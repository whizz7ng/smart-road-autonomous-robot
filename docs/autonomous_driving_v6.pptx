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5" r:id="rId9"/>
    <p:sldId id="266" r:id="rId10"/>
    <p:sldId id="275" r:id="rId11"/>
    <p:sldId id="276" r:id="rId12"/>
    <p:sldId id="277" r:id="rId13"/>
    <p:sldId id="269" r:id="rId14"/>
    <p:sldId id="270" r:id="rId15"/>
    <p:sldId id="279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34" autoAdjust="0"/>
    <p:restoredTop sz="86753" autoAdjust="0"/>
  </p:normalViewPr>
  <p:slideViewPr>
    <p:cSldViewPr snapToGrid="0" snapToObjects="1">
      <p:cViewPr varScale="1">
        <p:scale>
          <a:sx n="114" d="100"/>
          <a:sy n="114" d="100"/>
        </p:scale>
        <p:origin x="564" y="10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Edge Layer (</a:t>
            </a:r>
            <a:r>
              <a:rPr lang="ko-KR" altLang="en-US" b="1" dirty="0" err="1"/>
              <a:t>라즈베리파이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Serial Bridge Node: </a:t>
            </a:r>
            <a:r>
              <a:rPr lang="ko-KR" altLang="en-US" dirty="0"/>
              <a:t>하드웨어 데이터를 </a:t>
            </a:r>
            <a:r>
              <a:rPr lang="en-US" altLang="ko-KR" dirty="0"/>
              <a:t>ROS 2</a:t>
            </a:r>
            <a:r>
              <a:rPr lang="ko-KR" altLang="en-US" dirty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AI Inference Node: YOLOv8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ko-KR" altLang="en-US" dirty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Control Node (FSM): </a:t>
            </a:r>
            <a:r>
              <a:rPr lang="ko-KR" altLang="en-US" dirty="0"/>
              <a:t>모든 정보를 받아 주행 판단 내리는 핵심 노드</a:t>
            </a:r>
          </a:p>
          <a:p>
            <a:r>
              <a:rPr lang="en-US" altLang="ko-KR" b="1" dirty="0"/>
              <a:t>ESP32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Sensor Node → UART → Serial Bridge: "ROS 2 </a:t>
            </a:r>
            <a:r>
              <a:rPr lang="ko-KR" altLang="en-US" dirty="0"/>
              <a:t>밖의 유일한 통신 구간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Simulation Layer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실물과 동일한 </a:t>
            </a:r>
            <a:r>
              <a:rPr lang="en-US" altLang="ko-KR" dirty="0"/>
              <a:t>/</a:t>
            </a:r>
            <a:r>
              <a:rPr lang="en-US" altLang="ko-KR" dirty="0" err="1"/>
              <a:t>odom</a:t>
            </a:r>
            <a:r>
              <a:rPr lang="en-US" altLang="ko-KR" dirty="0"/>
              <a:t>, /</a:t>
            </a:r>
            <a:r>
              <a:rPr lang="en-US" altLang="ko-KR" dirty="0" err="1"/>
              <a:t>cmd_vel</a:t>
            </a:r>
            <a:r>
              <a:rPr lang="en-US" altLang="ko-KR" dirty="0"/>
              <a:t> </a:t>
            </a:r>
            <a:r>
              <a:rPr lang="ko-KR" altLang="en-US" dirty="0"/>
              <a:t>토픽 사용 → </a:t>
            </a:r>
            <a:r>
              <a:rPr lang="en-US" altLang="ko-KR" dirty="0"/>
              <a:t>"</a:t>
            </a:r>
            <a:r>
              <a:rPr lang="ko-KR" altLang="en-US" dirty="0"/>
              <a:t>코드 수정 없이 실물 전환 가능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Management Layer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Dashboard Node: C</a:t>
            </a:r>
            <a:r>
              <a:rPr lang="ko-KR" altLang="en-US" dirty="0"/>
              <a:t>님이 직접 개발</a:t>
            </a:r>
            <a:r>
              <a:rPr lang="en-US" altLang="ko-KR" dirty="0"/>
              <a:t>, </a:t>
            </a:r>
            <a:r>
              <a:rPr lang="ko-KR" altLang="en-US" dirty="0"/>
              <a:t>영상 녹화 </a:t>
            </a:r>
            <a:r>
              <a:rPr lang="en-US" altLang="ko-KR" dirty="0"/>
              <a:t>+ </a:t>
            </a:r>
            <a:r>
              <a:rPr lang="ko-KR" altLang="en-US" dirty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24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4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4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94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로봇</a:t>
            </a:r>
            <a:endParaRPr lang="en-US" sz="1050" dirty="0"/>
          </a:p>
          <a:p>
            <a:pPr marL="0" indent="0">
              <a:buNone/>
            </a:pPr>
            <a:endParaRPr lang="en-US" sz="10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65760" y="1298448"/>
            <a:ext cx="8412480" cy="3775475"/>
            <a:chOff x="365760" y="1298448"/>
            <a:chExt cx="8412480" cy="3775475"/>
          </a:xfrm>
        </p:grpSpPr>
        <p:sp>
          <p:nvSpPr>
            <p:cNvPr id="6" name="Shape 4"/>
            <p:cNvSpPr/>
            <p:nvPr/>
          </p:nvSpPr>
          <p:spPr>
            <a:xfrm>
              <a:off x="365760" y="1298448"/>
              <a:ext cx="8412480" cy="27432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6485" y="1490472"/>
              <a:ext cx="6194528" cy="3583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3019" y="1497490"/>
              <a:ext cx="477838" cy="249014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3719514" y="3298031"/>
            <a:ext cx="64294" cy="130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yolo_detector → fsm_node → control_node → bridge_node → ESP32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7"/>
          <p:cNvSpPr/>
          <p:nvPr/>
        </p:nvSpPr>
        <p:spPr>
          <a:xfrm>
            <a:off x="27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8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camera_node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27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USB Cam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15Hz · 압축</a:t>
            </a:r>
            <a:endParaRPr lang="ko-KR" sz="850" dirty="0"/>
          </a:p>
        </p:txBody>
      </p:sp>
      <p:sp>
        <p:nvSpPr>
          <p:cNvPr id="11" name="Shape 11"/>
          <p:cNvSpPr/>
          <p:nvPr/>
        </p:nvSpPr>
        <p:spPr>
          <a:xfrm>
            <a:off x="1730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2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yolo_detector</a:t>
            </a:r>
            <a:endParaRPr lang="en-US" sz="950" dirty="0"/>
          </a:p>
        </p:txBody>
      </p:sp>
      <p:sp>
        <p:nvSpPr>
          <p:cNvPr id="14" name="Text 14"/>
          <p:cNvSpPr/>
          <p:nvPr/>
        </p:nvSpPr>
        <p:spPr>
          <a:xfrm>
            <a:off x="1730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YOLOv8 + 차선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통합 10Hz</a:t>
            </a:r>
            <a:endParaRPr lang="ko-KR" sz="850" dirty="0"/>
          </a:p>
        </p:txBody>
      </p:sp>
      <p:sp>
        <p:nvSpPr>
          <p:cNvPr id="15" name="Shape 15"/>
          <p:cNvSpPr/>
          <p:nvPr/>
        </p:nvSpPr>
        <p:spPr>
          <a:xfrm>
            <a:off x="3186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</a:t>
            </a:r>
            <a:endParaRPr lang="en-US" sz="950" dirty="0"/>
          </a:p>
        </p:txBody>
      </p:sp>
      <p:sp>
        <p:nvSpPr>
          <p:cNvPr id="18" name="Text 18"/>
          <p:cNvSpPr/>
          <p:nvPr/>
        </p:nvSpPr>
        <p:spPr>
          <a:xfrm>
            <a:off x="3186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상태머신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판단 20Hz</a:t>
            </a:r>
            <a:endParaRPr lang="ko-KR" sz="850" dirty="0"/>
          </a:p>
        </p:txBody>
      </p:sp>
      <p:sp>
        <p:nvSpPr>
          <p:cNvPr id="19" name="Shape 19"/>
          <p:cNvSpPr/>
          <p:nvPr/>
        </p:nvSpPr>
        <p:spPr>
          <a:xfrm>
            <a:off x="4642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20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</a:t>
            </a:r>
            <a:endParaRPr lang="en-US" sz="950" dirty="0"/>
          </a:p>
        </p:txBody>
      </p:sp>
      <p:sp>
        <p:nvSpPr>
          <p:cNvPr id="22" name="Text 22"/>
          <p:cNvSpPr/>
          <p:nvPr/>
        </p:nvSpPr>
        <p:spPr>
          <a:xfrm>
            <a:off x="4642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명령 → Twist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20Hz 변환</a:t>
            </a:r>
            <a:endParaRPr lang="ko-KR" sz="850" dirty="0"/>
          </a:p>
        </p:txBody>
      </p:sp>
      <p:sp>
        <p:nvSpPr>
          <p:cNvPr id="23" name="Shape 23"/>
          <p:cNvSpPr/>
          <p:nvPr/>
        </p:nvSpPr>
        <p:spPr>
          <a:xfrm>
            <a:off x="6098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</a:t>
            </a:r>
            <a:endParaRPr lang="en-US" sz="950" dirty="0"/>
          </a:p>
        </p:txBody>
      </p:sp>
      <p:sp>
        <p:nvSpPr>
          <p:cNvPr id="26" name="Text 26"/>
          <p:cNvSpPr/>
          <p:nvPr/>
        </p:nvSpPr>
        <p:spPr>
          <a:xfrm>
            <a:off x="6098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역기구학 변환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UART 10Hz</a:t>
            </a:r>
            <a:endParaRPr lang="ko-KR" sz="850" dirty="0"/>
          </a:p>
        </p:txBody>
      </p:sp>
      <p:sp>
        <p:nvSpPr>
          <p:cNvPr id="27" name="Shape 27"/>
          <p:cNvSpPr/>
          <p:nvPr/>
        </p:nvSpPr>
        <p:spPr>
          <a:xfrm>
            <a:off x="755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8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 (HW)</a:t>
            </a:r>
            <a:endParaRPr lang="en-US" sz="950" dirty="0"/>
          </a:p>
        </p:txBody>
      </p:sp>
      <p:sp>
        <p:nvSpPr>
          <p:cNvPr id="30" name="Text 30"/>
          <p:cNvSpPr/>
          <p:nvPr/>
        </p:nvSpPr>
        <p:spPr>
          <a:xfrm>
            <a:off x="755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PWM 모터 구동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워치독 500ms</a:t>
            </a:r>
            <a:endParaRPr lang="ko-KR" sz="850" dirty="0"/>
          </a:p>
        </p:txBody>
      </p:sp>
      <p:sp>
        <p:nvSpPr>
          <p:cNvPr id="31" name="Arrow 31"/>
          <p:cNvSpPr/>
          <p:nvPr/>
        </p:nvSpPr>
        <p:spPr>
          <a:xfrm>
            <a:off x="1590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rrow 32"/>
          <p:cNvSpPr/>
          <p:nvPr/>
        </p:nvSpPr>
        <p:spPr>
          <a:xfrm>
            <a:off x="3046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rrow 33"/>
          <p:cNvSpPr/>
          <p:nvPr/>
        </p:nvSpPr>
        <p:spPr>
          <a:xfrm>
            <a:off x="4502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rrow 34"/>
          <p:cNvSpPr/>
          <p:nvPr/>
        </p:nvSpPr>
        <p:spPr>
          <a:xfrm>
            <a:off x="5958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rrow 35"/>
          <p:cNvSpPr/>
          <p:nvPr/>
        </p:nvSpPr>
        <p:spPr>
          <a:xfrm>
            <a:off x="7414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Label 36"/>
          <p:cNvSpPr/>
          <p:nvPr/>
        </p:nvSpPr>
        <p:spPr>
          <a:xfrm>
            <a:off x="1010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/camera/image_raw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(Compressed)</a:t>
            </a:r>
            <a:endParaRPr lang="en-US" sz="750" dirty="0"/>
          </a:p>
        </p:txBody>
      </p:sp>
      <p:sp>
        <p:nvSpPr>
          <p:cNvPr id="37" name="Label 37"/>
          <p:cNvSpPr/>
          <p:nvPr/>
        </p:nvSpPr>
        <p:spPr>
          <a:xfrm>
            <a:off x="2466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/robot_perception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8" name="Label 38"/>
          <p:cNvSpPr/>
          <p:nvPr/>
        </p:nvSpPr>
        <p:spPr>
          <a:xfrm>
            <a:off x="3922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/fsm_cmd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9" name="Label 39"/>
          <p:cNvSpPr/>
          <p:nvPr/>
        </p:nvSpPr>
        <p:spPr>
          <a:xfrm>
            <a:off x="5378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/cmd_vel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(Twist)</a:t>
            </a:r>
            <a:endParaRPr lang="en-US" sz="750" dirty="0"/>
          </a:p>
        </p:txBody>
      </p:sp>
      <p:sp>
        <p:nvSpPr>
          <p:cNvPr id="40" name="Label 40"/>
          <p:cNvSpPr/>
          <p:nvPr/>
        </p:nvSpPr>
        <p:spPr>
          <a:xfrm>
            <a:off x="6834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UART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(ESP32 JSON)</a:t>
            </a:r>
            <a:endParaRPr lang="en-US" sz="750" dirty="0"/>
          </a:p>
        </p:txBody>
      </p:sp>
      <p:sp>
        <p:nvSpPr>
          <p:cNvPr id="91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93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10Hz · 제어 20Hz 발행 : 실시간성 확보  |  /robot_perception 단일 JSON 통합 : 신호등·표지판·장애물·차선을 한 메시지로 전달해 파싱 단순화  |  노드 분리(인지·판단·제어·HW 브리지) → 장애 격리 + 독립 개발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7336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39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Infra &amp; Bridge  ①</a:t>
            </a:r>
            <a:endParaRPr lang="en-US" sz="2600" dirty="0"/>
          </a:p>
        </p:txBody>
      </p:sp>
      <p:sp>
        <p:nvSpPr>
          <p:cNvPr id="40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41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45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49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구성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 공용 베이스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이미지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(arm64 smart-road-pi4)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빌드 및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Hub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배포 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호스트↔컨테이너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GUI(X11)·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네트워크 통신 인프라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CycloneDDS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(ROS_DOMAIN_ID=42)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셋업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일괄 구동용 통합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구조 설계 및 공용 워크스페이스 뼈대 배포</a:t>
            </a:r>
          </a:p>
        </p:txBody>
      </p:sp>
      <p:sp>
        <p:nvSpPr>
          <p:cNvPr id="51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ESP32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시리얼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브릿지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센서 통합</a:t>
            </a: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RPi4 ↔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Waveshare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ESP32-WROOM-32 UART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통신 </a:t>
            </a:r>
            <a:b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cmd_vel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모터 명령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엔코더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피드백 수신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패킷 규격 정의 및 송수신 라인 안정화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LD19 LiDAR(/dev/ttyUSB0, 230400 baud, 6Hz) </a:t>
            </a:r>
            <a:b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USB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디바이스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패스스루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및 토픽 스트리밍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BEST_EFFORT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대응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qos_profile_sensor_data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—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구독자 데이터 유실 방지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11"/>
          <p:cNvSpPr/>
          <p:nvPr/>
        </p:nvSpPr>
        <p:spPr>
          <a:xfrm>
            <a:off x="50292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라이다 동적 장애물 탐지 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16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Bridge  ②</a:t>
            </a:r>
            <a:endParaRPr lang="en-US" sz="2600" dirty="0"/>
          </a:p>
        </p:txBody>
      </p:sp>
      <p:sp>
        <p:nvSpPr>
          <p:cNvPr id="17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18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6"/>
          <p:cNvSpPr/>
          <p:nvPr/>
        </p:nvSpPr>
        <p:spPr>
          <a:xfrm>
            <a:off x="3051199" y="1463040"/>
            <a:ext cx="572704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7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8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장애물 분류 모듈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obstacle_checker.py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15cm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 기반 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장애물 실시간 분류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ObstacleResult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(obstacle, dynamic, count, valid)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출력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FSM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분기에 전달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체인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odom→base_link→base_laser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AMCL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좌표 점 이동 추적으로  차량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이동분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상쇄 후 동적 판정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실측 검증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박스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움직이는 장애물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정상 분류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9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0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sliding-window(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deque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방식은 느린 장애물을 정적으로 흡수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셀 비면 즉시 리셋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교체해 해결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부재 시 안전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폴백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프레임 직접 계산으로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(dynamic=False, valid=False)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다중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rosbridge_websocket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프로세스가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~2.68GB RAM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점유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프리징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테스트 전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pkill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5" name="ezgif-8f6f5e2fc36ac03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5920" y="1463040"/>
            <a:ext cx="2045359" cy="201946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42" y="1490472"/>
            <a:ext cx="3673038" cy="1953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altLang="ko-KR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Mono camera</a:t>
            </a:r>
            <a:r>
              <a:rPr lang="ko-KR" altLang="en-US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를 통한 </a:t>
            </a:r>
            <a:r>
              <a:rPr lang="en-US" altLang="ko-KR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object</a:t>
            </a:r>
            <a:r>
              <a:rPr lang="ko-KR" altLang="en-US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와의 거리 감지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각 신호등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표지판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정적 장애물에 대한 일정한 거리에서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(70cm)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픽셀값 측정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픽셀의 크기 변화를 통한 거리 변화 감지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장애물과 로봇과의 거리를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cm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단위로 제어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endParaRPr lang="ko-KR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→ 모터 명령 변환 파이프라인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 → /fsm_cmd(JSON) → control_node → /cmd_vel → bridge → ESP32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control_node: 고수준 명령 → Twist 변환 (0.26 m/s, 20Hz 발행)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bridge_node: 차동구동 역기구학 → 좌/우 RPM (R=32.5mm, base=255mm)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ESP32: 20kHz PWM 구동 + 워치독 500ms → 명령 끊기면 자동 정지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2909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 </a:t>
            </a:r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altLang="ko-KR" sz="260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 설계 — 4-State 상태머신 (20Hz tick)</a:t>
            </a:r>
            <a:endParaRPr lang="ko-KR" altLang="en-US" sz="12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DRIVING / STOPPED / LANE_CHANGE / LEFT_TURN 4개 상태 전이 제어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조향: 화면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중심 오차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(pixel to cm)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× STEER_KP(0.02)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간단한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PID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제어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]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LANE_CHANGE: ROTATE_OUT → STRAIGHT → ROTATE_IN 오픈루프 3단계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LEFT_TURN: 신호 픽셀높이 2단계 트리거 (15px≈270cm / 23px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≈140cm)</a:t>
            </a:r>
            <a:endParaRPr lang="en-US" altLang="ko-KR" sz="1000">
              <a:solidFill>
                <a:srgbClr val="475569"/>
              </a:solidFill>
              <a:latin typeface="Calibri" pitchFamily="34" charset="0"/>
              <a:ea typeface="맑은 고딕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 변경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(1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차선으로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)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 및 좌회전 트리거 생성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67444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 Control &amp; FSM 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실험 결과 &amp; 핵심 파라미터</a:t>
            </a:r>
            <a:endParaRPr lang="ko-KR" altLang="en-US" sz="13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추종: STEER_KP=0.02, deadband 0.5cm, 직진 0.23 m/s 안정 주행 확인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변경: 회전 az=1.6 rad/s×0.7s + 직진 0.34m 오픈루프 시퀀스 완주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좌회전: 픽셀높이 슬라이딩윈도우(7프레임 중 4회) 디바운싱으로 오트리거 제거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신호등: green 후 off 2.5s grace로 점멸 오정지 방지 / 70cm 이내만 반응</a:t>
            </a:r>
            <a:endParaRPr lang="ko-KR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트러블슈팅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Current_lane (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기억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 ‘both’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갱신 불안정 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deque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다수결로 전환</a:t>
            </a:r>
            <a:endParaRPr lang="ko-KR" altLang="en-US" sz="95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 점멸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깜빡이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오정지 → deque 다수결 + grace 타이머 디바운싱</a:t>
            </a:r>
            <a:endParaRPr lang="ko-KR" alt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결과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4-State FSM으로 신호·표지판·차선변경·좌회전 미션 연속 동작</a:t>
            </a:r>
            <a:endParaRPr lang="ko-KR" altLang="en-US" sz="95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cmd_vel 끊김 시 ESP32 워치독 500ms 자동 정지 —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Fail-safe 확보</a:t>
            </a:r>
            <a:endParaRPr lang="ko-KR" altLang="en-US" sz="950" dirty="0"/>
          </a:p>
        </p:txBody>
      </p:sp>
    </p:spTree>
    <p:extLst>
      <p:ext uri="{BB962C8B-B14F-4D97-AF65-F5344CB8AC3E}">
        <p14:creationId xmlns:p14="http://schemas.microsoft.com/office/powerpoint/2010/main" val="391124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2" y="3113010"/>
            <a:ext cx="1243036" cy="8223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18254"/>
            <a:ext cx="1184148" cy="7585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48" y="1904238"/>
            <a:ext cx="1207984" cy="78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Perception &amp; AI  </a:t>
            </a:r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26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25A567D-A8BB-12CB-6479-48AB5F374C1B}"/>
              </a:ext>
            </a:extLst>
          </p:cNvPr>
          <p:cNvSpPr/>
          <p:nvPr/>
        </p:nvSpPr>
        <p:spPr>
          <a:xfrm>
            <a:off x="324612" y="107628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학습 · 3단계 개선 · 성능 결과</a:t>
            </a:r>
            <a:endParaRPr lang="en-US" sz="12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69B9382E-F29C-7223-DAE7-DF551580A562}"/>
              </a:ext>
            </a:extLst>
          </p:cNvPr>
          <p:cNvSpPr/>
          <p:nvPr/>
        </p:nvSpPr>
        <p:spPr>
          <a:xfrm>
            <a:off x="324612" y="1387183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B4A7AA57-D377-811E-F5E3-DCFE6888DAF8}"/>
              </a:ext>
            </a:extLst>
          </p:cNvPr>
          <p:cNvSpPr/>
          <p:nvPr/>
        </p:nvSpPr>
        <p:spPr>
          <a:xfrm>
            <a:off x="233172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66C9679A-3CAD-9CE2-6890-9C205344829A}"/>
              </a:ext>
            </a:extLst>
          </p:cNvPr>
          <p:cNvSpPr/>
          <p:nvPr/>
        </p:nvSpPr>
        <p:spPr>
          <a:xfrm>
            <a:off x="233172" y="1533487"/>
            <a:ext cx="27889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D282809-8D63-05F5-91F4-008349780E13}"/>
              </a:ext>
            </a:extLst>
          </p:cNvPr>
          <p:cNvSpPr/>
          <p:nvPr/>
        </p:nvSpPr>
        <p:spPr>
          <a:xfrm>
            <a:off x="324612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 |  기본 학습</a:t>
            </a:r>
            <a:endParaRPr lang="en-US" sz="9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E457FF1-18D9-C56A-2870-F842E1692264}"/>
              </a:ext>
            </a:extLst>
          </p:cNvPr>
          <p:cNvSpPr/>
          <p:nvPr/>
        </p:nvSpPr>
        <p:spPr>
          <a:xfrm>
            <a:off x="342900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기본 파라미터</a:t>
            </a:r>
            <a:endParaRPr lang="en-US" sz="9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D1B1C92-7208-CFEB-A685-2E2EDC2E9FE4}"/>
              </a:ext>
            </a:extLst>
          </p:cNvPr>
          <p:cNvSpPr/>
          <p:nvPr/>
        </p:nvSpPr>
        <p:spPr>
          <a:xfrm>
            <a:off x="342900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97 epoch 종료</a:t>
            </a:r>
            <a:endParaRPr lang="en-US" sz="9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D4BB4F99-DF81-8E6E-9D48-E88FE03C95FE}"/>
              </a:ext>
            </a:extLst>
          </p:cNvPr>
          <p:cNvSpPr/>
          <p:nvPr/>
        </p:nvSpPr>
        <p:spPr>
          <a:xfrm>
            <a:off x="342900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97.9%  /  Recall 94.9%</a:t>
            </a:r>
            <a:endParaRPr lang="en-US" sz="9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D33DE527-FF86-494A-26EF-AC55965EAD84}"/>
              </a:ext>
            </a:extLst>
          </p:cNvPr>
          <p:cNvSpPr/>
          <p:nvPr/>
        </p:nvSpPr>
        <p:spPr>
          <a:xfrm>
            <a:off x="3022092" y="2100415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09FC4DE-438D-6B2E-AC3F-DCAE5DAC255C}"/>
              </a:ext>
            </a:extLst>
          </p:cNvPr>
          <p:cNvSpPr/>
          <p:nvPr/>
        </p:nvSpPr>
        <p:spPr>
          <a:xfrm>
            <a:off x="3177540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1E9DEB27-5AA4-E55D-D928-52828DE74057}"/>
              </a:ext>
            </a:extLst>
          </p:cNvPr>
          <p:cNvSpPr/>
          <p:nvPr/>
        </p:nvSpPr>
        <p:spPr>
          <a:xfrm>
            <a:off x="3177540" y="1533487"/>
            <a:ext cx="278892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6CEFAD82-6FED-03B0-EE27-BE8FB0F3328A}"/>
              </a:ext>
            </a:extLst>
          </p:cNvPr>
          <p:cNvSpPr/>
          <p:nvPr/>
        </p:nvSpPr>
        <p:spPr>
          <a:xfrm>
            <a:off x="3268980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 |  데이터 증강 + 클래스 분리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05F2D77-275B-0057-710D-BC508CE8E4A4}"/>
              </a:ext>
            </a:extLst>
          </p:cNvPr>
          <p:cNvSpPr/>
          <p:nvPr/>
        </p:nvSpPr>
        <p:spPr>
          <a:xfrm>
            <a:off x="3287268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변화 증강 (HSV 밝기 조절)</a:t>
            </a:r>
            <a:endParaRPr lang="en-US" sz="9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136E29D-76DB-A76E-CFEE-BC52A64C2BC5}"/>
              </a:ext>
            </a:extLst>
          </p:cNvPr>
          <p:cNvSpPr/>
          <p:nvPr/>
        </p:nvSpPr>
        <p:spPr>
          <a:xfrm>
            <a:off x="3287268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&amp; Mixup 적용</a:t>
            </a:r>
            <a:endParaRPr lang="en-US" sz="9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29FC6177-51E6-4005-1EFF-77F18654B262}"/>
              </a:ext>
            </a:extLst>
          </p:cNvPr>
          <p:cNvSpPr/>
          <p:nvPr/>
        </p:nvSpPr>
        <p:spPr>
          <a:xfrm>
            <a:off x="3287268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limit_sign / stop_sign 혼동 개선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A77ACACB-F0C5-2FB1-6054-7F40CDAD5899}"/>
              </a:ext>
            </a:extLst>
          </p:cNvPr>
          <p:cNvSpPr/>
          <p:nvPr/>
        </p:nvSpPr>
        <p:spPr>
          <a:xfrm>
            <a:off x="5966460" y="2100415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808570FD-1EDC-13EB-78D5-12B0674FEFAB}"/>
              </a:ext>
            </a:extLst>
          </p:cNvPr>
          <p:cNvSpPr/>
          <p:nvPr/>
        </p:nvSpPr>
        <p:spPr>
          <a:xfrm>
            <a:off x="6121908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39780C00-0676-7D86-5051-E1E366855335}"/>
              </a:ext>
            </a:extLst>
          </p:cNvPr>
          <p:cNvSpPr/>
          <p:nvPr/>
        </p:nvSpPr>
        <p:spPr>
          <a:xfrm>
            <a:off x="6121908" y="1533487"/>
            <a:ext cx="27889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661C2E09-7BE2-D266-B236-8CF0FB4FD347}"/>
              </a:ext>
            </a:extLst>
          </p:cNvPr>
          <p:cNvSpPr/>
          <p:nvPr/>
        </p:nvSpPr>
        <p:spPr>
          <a:xfrm>
            <a:off x="6213348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  |  데이터 보완 + construction 추가</a:t>
            </a:r>
            <a:endParaRPr lang="en-US" sz="9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B0ED66FC-A4DB-784F-8213-A03ED9601DE5}"/>
              </a:ext>
            </a:extLst>
          </p:cNvPr>
          <p:cNvSpPr/>
          <p:nvPr/>
        </p:nvSpPr>
        <p:spPr>
          <a:xfrm>
            <a:off x="6231636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클래스 신규 학습</a:t>
            </a:r>
            <a:endParaRPr lang="en-US" sz="9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1FD3292E-81E3-7F93-6FA1-17A507156A1B}"/>
              </a:ext>
            </a:extLst>
          </p:cNvPr>
          <p:cNvSpPr/>
          <p:nvPr/>
        </p:nvSpPr>
        <p:spPr>
          <a:xfrm>
            <a:off x="6231636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260 epoch 종료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970EBBE4-D403-B99C-2E61-EEF9E1AFD3F2}"/>
              </a:ext>
            </a:extLst>
          </p:cNvPr>
          <p:cNvSpPr/>
          <p:nvPr/>
        </p:nvSpPr>
        <p:spPr>
          <a:xfrm>
            <a:off x="6231636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93.8%  /  추론속도 2.2ms</a:t>
            </a:r>
            <a:endParaRPr lang="en-US" sz="9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91D68796-0171-D497-6EF5-E12632AA252D}"/>
              </a:ext>
            </a:extLst>
          </p:cNvPr>
          <p:cNvSpPr/>
          <p:nvPr/>
        </p:nvSpPr>
        <p:spPr>
          <a:xfrm>
            <a:off x="233172" y="3033103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8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EE3347F-F7AF-44BF-A37C-99E84D2286A0}"/>
              </a:ext>
            </a:extLst>
          </p:cNvPr>
          <p:cNvSpPr/>
          <p:nvPr/>
        </p:nvSpPr>
        <p:spPr>
          <a:xfrm>
            <a:off x="4668012" y="3033103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 &amp; mAP Trends</a:t>
            </a:r>
            <a:endParaRPr lang="en-US" sz="85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351C1290-B58C-71B9-9642-F279586C6AE9}"/>
              </a:ext>
            </a:extLst>
          </p:cNvPr>
          <p:cNvSpPr/>
          <p:nvPr/>
        </p:nvSpPr>
        <p:spPr>
          <a:xfrm>
            <a:off x="4530852" y="3014815"/>
            <a:ext cx="0" cy="1920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FB5C575B-D816-A2B8-0C98-A648940C4365}"/>
              </a:ext>
            </a:extLst>
          </p:cNvPr>
          <p:cNvSpPr/>
          <p:nvPr/>
        </p:nvSpPr>
        <p:spPr>
          <a:xfrm>
            <a:off x="23317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전</a:t>
            </a:r>
            <a:endParaRPr lang="en-US" sz="75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40FDD52B-60E5-6C50-815C-027A8A11C8E4}"/>
              </a:ext>
            </a:extLst>
          </p:cNvPr>
          <p:cNvSpPr/>
          <p:nvPr/>
        </p:nvSpPr>
        <p:spPr>
          <a:xfrm>
            <a:off x="2446020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후</a:t>
            </a:r>
            <a:endParaRPr lang="en-US" sz="7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29CC97EA-713C-0B95-4A16-15CFF9A1752B}"/>
              </a:ext>
            </a:extLst>
          </p:cNvPr>
          <p:cNvSpPr/>
          <p:nvPr/>
        </p:nvSpPr>
        <p:spPr>
          <a:xfrm>
            <a:off x="466801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전</a:t>
            </a:r>
            <a:endParaRPr lang="en-US" sz="75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96BB34BC-5626-9A8A-DAD4-7F5E0D9F0114}"/>
              </a:ext>
            </a:extLst>
          </p:cNvPr>
          <p:cNvSpPr/>
          <p:nvPr/>
        </p:nvSpPr>
        <p:spPr>
          <a:xfrm>
            <a:off x="686257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후</a:t>
            </a:r>
            <a:endParaRPr lang="en-US" sz="750" dirty="0"/>
          </a:p>
        </p:txBody>
      </p:sp>
      <p:pic>
        <p:nvPicPr>
          <p:cNvPr id="61" name="Image 0">
            <a:extLst>
              <a:ext uri="{FF2B5EF4-FFF2-40B4-BE49-F238E27FC236}">
                <a16:creationId xmlns:a16="http://schemas.microsoft.com/office/drawing/2014/main" id="{3CF010A0-B34D-CC00-830D-82A65EAC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" y="3426295"/>
            <a:ext cx="2011680" cy="1463040"/>
          </a:xfrm>
          <a:prstGeom prst="rect">
            <a:avLst/>
          </a:prstGeom>
        </p:spPr>
      </p:pic>
      <p:pic>
        <p:nvPicPr>
          <p:cNvPr id="62" name="Image 1">
            <a:extLst>
              <a:ext uri="{FF2B5EF4-FFF2-40B4-BE49-F238E27FC236}">
                <a16:creationId xmlns:a16="http://schemas.microsoft.com/office/drawing/2014/main" id="{D962490D-EC64-ABF9-9B16-39BCADA9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3426295"/>
            <a:ext cx="2011680" cy="1463040"/>
          </a:xfrm>
          <a:prstGeom prst="rect">
            <a:avLst/>
          </a:prstGeom>
        </p:spPr>
      </p:pic>
      <p:pic>
        <p:nvPicPr>
          <p:cNvPr id="63" name="Image 2">
            <a:extLst>
              <a:ext uri="{FF2B5EF4-FFF2-40B4-BE49-F238E27FC236}">
                <a16:creationId xmlns:a16="http://schemas.microsoft.com/office/drawing/2014/main" id="{BA646CF1-C694-5C69-8C49-A545D0D77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3426295"/>
            <a:ext cx="2011680" cy="1463040"/>
          </a:xfrm>
          <a:prstGeom prst="rect">
            <a:avLst/>
          </a:prstGeom>
        </p:spPr>
      </p:pic>
      <p:pic>
        <p:nvPicPr>
          <p:cNvPr id="192" name="Image 3">
            <a:extLst>
              <a:ext uri="{FF2B5EF4-FFF2-40B4-BE49-F238E27FC236}">
                <a16:creationId xmlns:a16="http://schemas.microsoft.com/office/drawing/2014/main" id="{5D6CFFC2-3025-C4F2-48EF-432198C7A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572" y="3426295"/>
            <a:ext cx="201168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24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336169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336169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32320" y="349885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50608" y="354457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392861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411149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45313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4573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2005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9437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48" name="Shape 27"/>
          <p:cNvSpPr/>
          <p:nvPr/>
        </p:nvSpPr>
        <p:spPr>
          <a:xfrm>
            <a:off x="365760" y="1513150"/>
            <a:ext cx="8412480" cy="175435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8"/>
          <p:cNvSpPr/>
          <p:nvPr/>
        </p:nvSpPr>
        <p:spPr>
          <a:xfrm>
            <a:off x="365760" y="1506982"/>
            <a:ext cx="54864" cy="1754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29"/>
          <p:cNvSpPr/>
          <p:nvPr/>
        </p:nvSpPr>
        <p:spPr>
          <a:xfrm>
            <a:off x="7132320" y="1741004"/>
            <a:ext cx="1508760" cy="1378598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0"/>
          <p:cNvSpPr/>
          <p:nvPr/>
        </p:nvSpPr>
        <p:spPr>
          <a:xfrm>
            <a:off x="7178040" y="1818805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DC2626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0.7s</a:t>
            </a:r>
            <a:endParaRPr lang="ko-KR" sz="1600" dirty="0"/>
          </a:p>
        </p:txBody>
      </p:sp>
      <p:sp>
        <p:nvSpPr>
          <p:cNvPr id="52" name="Text 31"/>
          <p:cNvSpPr/>
          <p:nvPr/>
        </p:nvSpPr>
        <p:spPr>
          <a:xfrm>
            <a:off x="7653528" y="2270280"/>
            <a:ext cx="457200" cy="317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94A3B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</a:t>
            </a:r>
            <a:endParaRPr lang="ko-KR" sz="1200" dirty="0"/>
          </a:p>
        </p:txBody>
      </p:sp>
      <p:sp>
        <p:nvSpPr>
          <p:cNvPr id="53" name="Text 32"/>
          <p:cNvSpPr/>
          <p:nvPr/>
        </p:nvSpPr>
        <p:spPr>
          <a:xfrm>
            <a:off x="7150608" y="2504903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0596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50ms</a:t>
            </a:r>
            <a:endParaRPr lang="ko-KR" sz="1600" dirty="0"/>
          </a:p>
        </p:txBody>
      </p:sp>
      <p:sp>
        <p:nvSpPr>
          <p:cNvPr id="55" name="Text 34"/>
          <p:cNvSpPr/>
          <p:nvPr/>
        </p:nvSpPr>
        <p:spPr>
          <a:xfrm>
            <a:off x="594360" y="1848081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[문제]  차선 변경 시 time.sleep() 사용 → 그동안 정지·인식 명령 무시</a:t>
            </a:r>
            <a:endParaRPr lang="ko-KR" sz="950" dirty="0"/>
          </a:p>
        </p:txBody>
      </p:sp>
      <p:sp>
        <p:nvSpPr>
          <p:cNvPr id="56" name="Text 35"/>
          <p:cNvSpPr/>
          <p:nvPr/>
        </p:nvSpPr>
        <p:spPr>
          <a:xfrm>
            <a:off x="594360" y="2111370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[추정 원인] 하드웨어 불안정성</a:t>
            </a:r>
            <a:r>
              <a:rPr lang="en-US" altLang="ko-KR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일관성</a:t>
            </a:r>
            <a:r>
              <a:rPr lang="en-US" altLang="ko-KR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x), </a:t>
            </a:r>
            <a:endParaRPr lang="ko-KR" sz="950" dirty="0"/>
          </a:p>
        </p:txBody>
      </p:sp>
      <p:sp>
        <p:nvSpPr>
          <p:cNvPr id="57" name="Text 36"/>
          <p:cNvSpPr/>
          <p:nvPr/>
        </p:nvSpPr>
        <p:spPr>
          <a:xfrm>
            <a:off x="594360" y="2577856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1A1A2E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[해결]  전 구간 논블로킹 타이머(20Hz) 상태머신 전환 → 50ms 주기 즉시 반응</a:t>
            </a:r>
            <a:endParaRPr lang="ko-KR" sz="950" dirty="0"/>
          </a:p>
        </p:txBody>
      </p:sp>
      <p:sp>
        <p:nvSpPr>
          <p:cNvPr id="58" name="Text 11"/>
          <p:cNvSpPr/>
          <p:nvPr/>
        </p:nvSpPr>
        <p:spPr>
          <a:xfrm>
            <a:off x="594360" y="1601193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ko-KR" alt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블로킹으로 제어 멈춤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/>
              <a:t>연동</a:t>
            </a:r>
            <a:r>
              <a:rPr lang="en-US" altLang="ko-KR" sz="1000" dirty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2390</Words>
  <Application>Microsoft Office PowerPoint</Application>
  <PresentationFormat>화면 슬라이드 쇼(16:9)</PresentationFormat>
  <Paragraphs>387</Paragraphs>
  <Slides>17</Slides>
  <Notes>17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26</cp:revision>
  <dcterms:created xsi:type="dcterms:W3CDTF">2026-06-08T06:11:46Z</dcterms:created>
  <dcterms:modified xsi:type="dcterms:W3CDTF">2026-06-08T14:35:53Z</dcterms:modified>
</cp:coreProperties>
</file>