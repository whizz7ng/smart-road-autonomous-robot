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3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8834" autoAdjust="0"/>
    <p:restoredTop sz="87316" autoAdjust="0"/>
  </p:normalViewPr>
  <p:slideViewPr>
    <p:cSldViewPr snapToGrid="0" snapToObjects="1">
      <p:cViewPr>
        <p:scale>
          <a:sx n="90" d="100"/>
          <a:sy n="90" d="100"/>
        </p:scale>
        <p:origin x="468" y="3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9" d="100"/>
          <a:sy n="69" d="100"/>
        </p:scale>
        <p:origin x="225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57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 smtClean="0"/>
              <a:t>Edge Layer (</a:t>
            </a:r>
            <a:r>
              <a:rPr lang="ko-KR" altLang="en-US" b="1" dirty="0" err="1" smtClean="0"/>
              <a:t>라즈베리파이</a:t>
            </a:r>
            <a:r>
              <a:rPr lang="en-US" altLang="ko-KR" b="1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시스템의 두뇌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Serial Bridge Node: </a:t>
            </a:r>
            <a:r>
              <a:rPr lang="ko-KR" altLang="en-US" dirty="0" smtClean="0"/>
              <a:t>하드웨어 데이터를 </a:t>
            </a:r>
            <a:r>
              <a:rPr lang="en-US" altLang="ko-KR" dirty="0" smtClean="0"/>
              <a:t>ROS 2</a:t>
            </a:r>
            <a:r>
              <a:rPr lang="ko-KR" altLang="en-US" dirty="0" smtClean="0"/>
              <a:t>로 변환하는 관문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AI Inference Node: YOLOv8 </a:t>
            </a:r>
            <a:r>
              <a:rPr lang="ko-KR" altLang="en-US" dirty="0" smtClean="0"/>
              <a:t>실행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객체 인식 결과 발행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Control Node (FSM): </a:t>
            </a:r>
            <a:r>
              <a:rPr lang="ko-KR" altLang="en-US" dirty="0" smtClean="0"/>
              <a:t>모든 정보를 받아 주행 판단 내리는 핵심 노드</a:t>
            </a:r>
          </a:p>
          <a:p>
            <a:r>
              <a:rPr lang="en-US" altLang="ko-KR" b="1" dirty="0" smtClean="0"/>
              <a:t>ESP32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물리 인터페이스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Sensor Node → UART → Serial Bridge: "ROS 2 </a:t>
            </a:r>
            <a:r>
              <a:rPr lang="ko-KR" altLang="en-US" dirty="0" smtClean="0"/>
              <a:t>밖의 유일한 통신 구간</a:t>
            </a:r>
            <a:r>
              <a:rPr lang="en-US" altLang="ko-KR" dirty="0" smtClean="0"/>
              <a:t>"</a:t>
            </a:r>
          </a:p>
          <a:p>
            <a:r>
              <a:rPr lang="en-US" altLang="ko-KR" b="1" dirty="0" smtClean="0"/>
              <a:t>Simulation Layer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검증 환경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 smtClean="0"/>
              <a:t>실물과 동일한 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odom</a:t>
            </a:r>
            <a:r>
              <a:rPr lang="en-US" altLang="ko-KR" dirty="0" smtClean="0"/>
              <a:t>, /</a:t>
            </a:r>
            <a:r>
              <a:rPr lang="en-US" altLang="ko-KR" dirty="0" err="1" smtClean="0"/>
              <a:t>cmd_vel</a:t>
            </a:r>
            <a:r>
              <a:rPr lang="en-US" altLang="ko-KR" dirty="0" smtClean="0"/>
              <a:t> </a:t>
            </a:r>
            <a:r>
              <a:rPr lang="ko-KR" altLang="en-US" dirty="0" smtClean="0"/>
              <a:t>토픽 사용 → </a:t>
            </a:r>
            <a:r>
              <a:rPr lang="en-US" altLang="ko-KR" dirty="0" smtClean="0"/>
              <a:t>"</a:t>
            </a:r>
            <a:r>
              <a:rPr lang="ko-KR" altLang="en-US" dirty="0" smtClean="0"/>
              <a:t>코드 수정 없이 실물 전환 가능</a:t>
            </a:r>
            <a:r>
              <a:rPr lang="en-US" altLang="ko-KR" dirty="0" smtClean="0"/>
              <a:t>"</a:t>
            </a:r>
          </a:p>
          <a:p>
            <a:r>
              <a:rPr lang="en-US" altLang="ko-KR" b="1" dirty="0" smtClean="0"/>
              <a:t>Management Layer</a:t>
            </a:r>
            <a:r>
              <a:rPr lang="ko-KR" altLang="en-US" dirty="0" smtClean="0"/>
              <a:t> </a:t>
            </a:r>
            <a:r>
              <a:rPr lang="en-US" altLang="ko-KR" dirty="0" smtClean="0"/>
              <a:t>— </a:t>
            </a:r>
            <a:r>
              <a:rPr lang="ko-KR" altLang="en-US" dirty="0" smtClean="0"/>
              <a:t>모니터링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 smtClean="0"/>
              <a:t>Dashboard Node: C</a:t>
            </a:r>
            <a:r>
              <a:rPr lang="ko-KR" altLang="en-US" dirty="0" smtClean="0"/>
              <a:t>님이 직접 개발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영상 녹화 </a:t>
            </a:r>
            <a:r>
              <a:rPr lang="en-US" altLang="ko-KR" dirty="0" smtClean="0"/>
              <a:t>+ </a:t>
            </a:r>
            <a:r>
              <a:rPr lang="ko-KR" altLang="en-US" dirty="0" smtClean="0"/>
              <a:t>실시간 상태 확인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62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14400"/>
            <a:ext cx="7680960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연동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로봇 플랫폼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시스템 구축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프로젝트  |  ROS 2 Jazzy  ×  YOLOv8  |  10일 스프린트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54864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제시 · 목표 · 팀 역할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463040"/>
            <a:ext cx="54864" cy="1280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진행 과정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10일 타임라인 · 시스템 설계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01752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모듈 구현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 역할별 상세 내용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017520"/>
            <a:ext cx="54864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&amp; 성과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· 결과 · 향후 계획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배경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현장의 문제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자율주행 시스템의 한계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[!]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34389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장애물 대응 불가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34388" y="194767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경로 계획만으로는 갑작스럽게 </a:t>
            </a:r>
            <a:r>
              <a:rPr lang="en-US" sz="9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등장하는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장애물에</a:t>
            </a:r>
            <a:r>
              <a:rPr lang="en-US" sz="9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</a:t>
            </a:r>
            <a:r>
              <a:rPr lang="en-US" sz="9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대응하기 어려움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57" y="164592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4018" y="164592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"단순 거리 센서만으로는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환경에 대응 불가"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6032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745" y="276148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[신호]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34389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 법규 인식 부재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34388" y="299923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신호등·표지판 등 교통 규칙을 인지하고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행동으로 연결하는 파이프라인 미비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57" y="269748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4018" y="269748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"신호등 상태를 무시하고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→ 충돌 위험"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1188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4745" y="38130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[연결]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34389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인지-제어 통합 부재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34389" y="4050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인식 결과가 실제 로봇 제어로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이어지는 통합 아키텍처가 없음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57" y="374904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4018" y="374904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"YOLO가 인식해도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로봇이 멈추지 않음"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플랫폼 구축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기반 실시간 인식  ×  ROS 2 Jazzy 제어  →  통합 자율주행 파이프라인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31720"/>
            <a:ext cx="196596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차선 인식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영상에서 실시간 차선 검출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주행 경로 생성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331720"/>
            <a:ext cx="19659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객체 인식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YOLOv8로 장애물·신호등 실시간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감지 및 분류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331720"/>
            <a:ext cx="19659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행동 제어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결과→모터 제어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 변환 파이프라인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2331720"/>
            <a:ext cx="19659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통합 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3036664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</a:t>
            </a:r>
            <a:endParaRPr lang="en-US" sz="1050" dirty="0"/>
          </a:p>
          <a:p>
            <a:pPr marL="0" indent="0">
              <a:buNone/>
            </a:pPr>
            <a:endParaRPr lang="en-US" sz="1050" dirty="0" smtClean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</a:t>
            </a:r>
            <a:r>
              <a:rPr lang="en-US" sz="105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검증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팀 구성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역할 및 R&amp;R 재편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4명 → 3명 재편 후 전문화된 역할 분담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4일차: HW 모터 제어 지연 이슈 발생 → R&amp;R 재정립, 팀 4명 → 3명 재편 (5일차부터 적용)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6596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 /  Infra &amp; Bridge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시리얼 통신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확보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27832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1965960"/>
            <a:ext cx="2697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 /  Control &amp; FSM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 자율주행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9904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9904" y="1965960"/>
            <a:ext cx="2697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C님 ★  /  Perception &amp;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2790583"/>
            <a:ext cx="2468880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 처리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차선·객체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노드</a:t>
            </a:r>
            <a:endParaRPr lang="en-US" sz="1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 </a:t>
            </a:r>
            <a:r>
              <a:rPr lang="ko-KR" altLang="en-US" sz="100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99632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정확도 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품질 확보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시스템 아키텍처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기반 4-Layer 구조: Edge · ESP32 · Simulation · </a:t>
            </a:r>
            <a:r>
              <a:rPr lang="en-US" sz="1200" dirty="0" smtClean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</a:t>
            </a:r>
            <a:r>
              <a:rPr lang="en-US" altLang="ko-KR" sz="1200" dirty="0"/>
              <a:t>4</a:t>
            </a:r>
            <a:r>
              <a:rPr lang="ko-KR" altLang="en-US" sz="1200" dirty="0"/>
              <a:t>개 레이어가 </a:t>
            </a:r>
            <a:r>
              <a:rPr lang="en-US" altLang="ko-KR" sz="1200" dirty="0"/>
              <a:t>ROS 2 </a:t>
            </a:r>
            <a:r>
              <a:rPr lang="ko-KR" altLang="en-US" sz="1200" dirty="0"/>
              <a:t>토픽으로 연결된 분산 구조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6" name="Picture 2" descr="https://cdn-0.plantuml.com/plantuml/png/RLB1YXD14BtFLnJhmHamH28ULaHsakngO5UNp7eI2PNfIXntfZjqTroY28Ah8Bcig3TTzY3w0IhemI-Qv1_icMcJ7aqVqgbwxrMzgfuTfL7gQPPwwZZX4vIO0HUQu9a7vhGnFXvBCUMi8r8XuTAUETlR5IOa8sdptJ2ythhgFVUyYP7Wc61hDpgyrWB_3afsWfAWnpN94SOKRDdg3oBYogZl2aOF0HLKSH7MAp7pkuypak3tKKs69EKC3XDeGFzUr2hrogqg4qoXBHEZMnMtSH5MjB1dB8r84eyTLjXRCpg2QodI4WH_Bpe8IefD_sSpIh9fYZeHl3AxCdGRdz9GWCM5BAjKoLg10-JcpeZhVmfqKJqQ2fHixRD8_NLm6V9NF_Dt7_Dlfv3Fl-VpNulpCyY_Vbv-U0j-WPs_MBny4tZbosen0J5oTWqtO9UF8NHXPriRuR3dG1tmzmaPoMROgpLnLsMvRHUtIx1GruNiW1jw541WXgxUVldwOld-jxb-BEONiFnqbdyvzPpP6erRzLdwU69dDoqqWdy_x1y5diCf97NZJLKA1gmK78b94WUUNS46DYDDiIOs4CF7vezQILoUqTNVe1bdRF24qXNRBkVcXWw2YUoAet0-lMZ6DtHojjcKOYZqG6dKqxMr7U9icgL_00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485" y="1490472"/>
            <a:ext cx="6194528" cy="358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97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노드 구성도 &amp; 데이터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yolo_detector → behavior_selector → /cmd_vel 파이프라인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13289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132896"/>
            <a:ext cx="19202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132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camera_node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462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30Hz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53853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538536"/>
            <a:ext cx="192024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5385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yolo_detector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14600" y="18677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GPU/CPU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286441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2864416"/>
            <a:ext cx="192024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28644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lane_detector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3193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213289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132896"/>
            <a:ext cx="192024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132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behavior_selector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462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머신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8040" y="2132896"/>
            <a:ext cx="19202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2132896"/>
            <a:ext cx="19202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21328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motor_controller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24620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변환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40280" y="2571808"/>
            <a:ext cx="1828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0280" y="2571808"/>
            <a:ext cx="182880" cy="704088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1950016"/>
            <a:ext cx="457200" cy="50292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3400" y="3275896"/>
            <a:ext cx="457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0840" y="2571808"/>
            <a:ext cx="457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18128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/image_raw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60520" y="16025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/traffic_light_info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 msg)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206240" y="304729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/lane_info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09360" y="22243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 30Hz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3886200"/>
            <a:ext cx="850392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9502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근거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토픽 발행 주기 30Hz : 실시간성 확보 (33ms 이내 응답)  |  custom msg 채택 : 신호등 색상·신뢰도를 단일 메시지로 전달, 파싱 오버헤드 최소화  |  노드 분리 : 인식/제어 독립 실행 → 장애 격리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 |  Infra &amp; Bridge  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 · 센서 데이터 수신 · 시리얼 통신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 개발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 처리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↔ ESP32 시리얼 통신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 센서 데이터 확보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상세 내용 ① - 여기에 추가해 주세요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상세 내용 ② - 구현 방법 / 결과 / 코드 스크린샷 등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 |  Infra &amp; Bridge  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세부 내용 ③ - 주요 구현 결과 / 수치 / 데모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트러블슈팅 / 이슈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A님 결과 / 스크린샷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 |  Control &amp; FSM  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 · 모터 제어 통합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기반 자율주행 로직 설계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 (PWM)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→ 실물 동작 변환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안정적 자율주행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상세 내용 ① - FSM 상태 다이어그램 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상세 내용 ② - 모터 제어 구현 / 결과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 |  Control &amp; FSM  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세부 내용 ③ - 주행 실험 결과 / 수치 / 데모 영상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트러블슈팅 / 이슈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B님 결과 / 스크린샷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C님  |  Perception &amp; AI  ①  (D5~D6)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명세 → 가제보 검증 → PC 이관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406908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40690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[D5]  Perception 규격 명세 정의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토픽 포맷, 메시지 타입,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노드 인터페이스 스펙 문서화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06908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08760"/>
            <a:ext cx="40690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08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[D5]  가제보 Perception 구현·검증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시뮬레이션 환경에서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노드 동작 검증 완료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406908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200400"/>
            <a:ext cx="406908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[D6]  카메라 데이터 → PC 대시보드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녹화 기능 포함 PC 대시보드 개발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OpenCV/Perception 파이프라인 구축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06908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200400"/>
            <a:ext cx="406908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[D6]  라즈베리파이 → PC 이관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361188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노드를 PC로 이동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자원 활용 구조로 아키텍처 수정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C님  |  Perception &amp; AI  ②  (D7~D10)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고도화 · 차선 구분 · 장애물 인식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57276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801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1709928"/>
            <a:ext cx="19202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38528"/>
            <a:ext cx="192024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38528"/>
            <a:ext cx="192024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938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개선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23774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모델 파라미터 튜닝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인식률 향상 실험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246120"/>
            <a:ext cx="19202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11480" y="3246120"/>
            <a:ext cx="1920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결과/이미지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예정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91840" y="1572768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2801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1709928"/>
            <a:ext cx="19202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1938528"/>
            <a:ext cx="192024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6040" y="1938528"/>
            <a:ext cx="192024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1938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교체 대응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79192" y="23774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카메라에 맞게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OpenCV·YOLO 보정 및 재학습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3246120"/>
            <a:ext cx="19202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2606040" y="3246120"/>
            <a:ext cx="1920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결과/이미지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예정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0" y="157276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12801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1709928"/>
            <a:ext cx="192024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1938528"/>
            <a:ext cx="192024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1938528"/>
            <a:ext cx="192024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1938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1/2차선 구분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73752" y="23774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색상·위치 기반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1차선·2차선 분류 로직 구현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246120"/>
            <a:ext cx="19202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800600" y="3246120"/>
            <a:ext cx="1920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결과/이미지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예정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680960" y="1572768"/>
            <a:ext cx="274320" cy="2743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12801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95160" y="1938528"/>
            <a:ext cx="192024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95160" y="1938528"/>
            <a:ext cx="19202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19385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인식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귀속차선 판별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068312" y="23774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감지 후 귀속 차선 판단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경로 재계획 연동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95160" y="3246120"/>
            <a:ext cx="19202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6995160" y="3246120"/>
            <a:ext cx="1920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결과/이미지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예정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트러블슈팅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숨기지 않고, 엔지니어링으로 해결한 과정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8412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63040"/>
            <a:ext cx="54864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1600200"/>
            <a:ext cx="15087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0608" y="16459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71232" y="202996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50608" y="22128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155448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 인식률 저하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184708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  Gazebo에서 정상 동작하던 신호등 인식이 실제 조명 환경에서 60% 확률로 실패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12140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  실제 카메라 노출 값과 실내 조명 간섭 문제 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3957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OpenCV 전처리 보강 + 다양한 조도 조건 추가 학습 → 인식률 95% 달성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8412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00400"/>
            <a:ext cx="54864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0" y="3337560"/>
            <a:ext cx="15087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3383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100ms+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71232" y="37673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50608" y="39502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30ms↓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" y="329184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모터 제어 지연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58444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  ESP32 모터 제어 명령 전달 시 100ms 이상 지연 발생 → 주행 불안정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385876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  시리얼 통신 버퍼 오버플로우 및 ROS 2 타이머 주기 충돌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13308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통신 프로토콜 최적화 + 타이머 주기 재조정 → 지연 30ms 이내로 감소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결론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및 향후 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성과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 × YOLOv8 통합 자율주행 파이프라인 완성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시뮬레이션 → 실물 로봇 연속 동작 검증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 인식률 60% → 95% 개선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30Hz 실시간 인식-제어 루프 안정화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인식 / 장애물 감지 / 귀속차선 판별 통합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27432" cy="3291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확장 계획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21808" y="18470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스택 연동 → 완전한 자율 이동 로봇(AMR) 고도화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496312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21808" y="25603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카메라 융합 및 LiDAR 센서 통합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9544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21808" y="32735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강화학습 기반 주행 정책으로 FSM 대체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922776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922776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922776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21808" y="398678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실외 환경 대응 및 GPS 모듈 연동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 |  인지와 제어가 통합된 지능형 자율주행 플랫폼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1203</Words>
  <Application>Microsoft Office PowerPoint</Application>
  <PresentationFormat>화면 슬라이드 쇼(16:9)</PresentationFormat>
  <Paragraphs>248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4</cp:revision>
  <dcterms:created xsi:type="dcterms:W3CDTF">2026-06-08T06:11:46Z</dcterms:created>
  <dcterms:modified xsi:type="dcterms:W3CDTF">2026-06-08T06:41:54Z</dcterms:modified>
</cp:coreProperties>
</file>