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3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34" autoAdjust="0"/>
    <p:restoredTop sz="87316" autoAdjust="0"/>
  </p:normalViewPr>
  <p:slideViewPr>
    <p:cSldViewPr snapToGrid="0" snapToObjects="1">
      <p:cViewPr varScale="1">
        <p:scale>
          <a:sx n="103" d="100"/>
          <a:sy n="103" d="100"/>
        </p:scale>
        <p:origin x="108" y="12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225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7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Edge Layer (</a:t>
            </a:r>
            <a:r>
              <a:rPr lang="ko-KR" altLang="en-US" b="1" dirty="0" err="1" smtClean="0"/>
              <a:t>라즈베리파이</a:t>
            </a:r>
            <a:r>
              <a:rPr lang="en-US" altLang="ko-KR" b="1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시스템의 두뇌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Serial Bridge Node: </a:t>
            </a:r>
            <a:r>
              <a:rPr lang="ko-KR" altLang="en-US" dirty="0" smtClean="0"/>
              <a:t>하드웨어 데이터를 </a:t>
            </a:r>
            <a:r>
              <a:rPr lang="en-US" altLang="ko-KR" dirty="0" smtClean="0"/>
              <a:t>ROS 2</a:t>
            </a:r>
            <a:r>
              <a:rPr lang="ko-KR" altLang="en-US" dirty="0" smtClean="0"/>
              <a:t>로 변환하는 관문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AI Inference Node: YOLOv8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객체 인식 결과 발행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Control Node (FSM): </a:t>
            </a:r>
            <a:r>
              <a:rPr lang="ko-KR" altLang="en-US" dirty="0" smtClean="0"/>
              <a:t>모든 정보를 받아 주행 판단 내리는 핵심 노드</a:t>
            </a:r>
          </a:p>
          <a:p>
            <a:r>
              <a:rPr lang="en-US" altLang="ko-KR" b="1" dirty="0" smtClean="0"/>
              <a:t>ESP32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물리 인터페이스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Sensor Node → UART → Serial Bridge: "ROS 2 </a:t>
            </a:r>
            <a:r>
              <a:rPr lang="ko-KR" altLang="en-US" dirty="0" smtClean="0"/>
              <a:t>밖의 유일한 통신 구간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Simulation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검증 환경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실물과 동일한 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odom</a:t>
            </a:r>
            <a:r>
              <a:rPr lang="en-US" altLang="ko-KR" dirty="0" smtClean="0"/>
              <a:t>, /</a:t>
            </a:r>
            <a:r>
              <a:rPr lang="en-US" altLang="ko-KR" dirty="0" err="1" smtClean="0"/>
              <a:t>cmd_vel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토픽 사용 → </a:t>
            </a:r>
            <a:r>
              <a:rPr lang="en-US" altLang="ko-KR" dirty="0" smtClean="0"/>
              <a:t>"</a:t>
            </a:r>
            <a:r>
              <a:rPr lang="ko-KR" altLang="en-US" dirty="0" smtClean="0"/>
              <a:t>코드 수정 없이 실물 전환 가능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Management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모니터링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Dashboard Node: C</a:t>
            </a:r>
            <a:r>
              <a:rPr lang="ko-KR" altLang="en-US" dirty="0" smtClean="0"/>
              <a:t>님이 직접 개발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 녹화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실시간 상태 확인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6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7680960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연동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로봇 플랫폼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시스템 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프로젝트  |  ROS 2 Jazzy  ×  YOLOv8  |  10일 스프린트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제시 · 목표 · 팀 역할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진행 과정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10일 타임라인 · 시스템 설계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175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모듈 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역할별 상세 내용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54864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&amp; 성과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· 결과 · 향후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배경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자율주행 시스템의 한계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[!]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34389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장애물 대응 불가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34388" y="194767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경로 계획만으로는 갑작스럽게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등장하는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대응하기 어려움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57" y="164592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4018" y="164592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"단순 거리 센서만으로는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환경에 대응 불가"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745" y="27614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[신호]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4389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법규 인식 부재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4388" y="299923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신호등·표지판 등 교통 규칙을 인지하고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연결하는 파이프라인 미비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57" y="269748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4018" y="269748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"신호등 상태를 무시하고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→ 충돌 위험"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118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745" y="38130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[연결]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34389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인지-제어 통합 부재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34389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인식 결과가 실제 로봇 제어로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통합 아키텍처가 없음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57" y="374904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4018" y="374904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"YOLO가 인식해도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멈추지 않음"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플랫폼 구축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기반 실시간 인식  ×  ROS 2 Jazzy 제어  →  통합 자율주행 파이프라인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19659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차선 인식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영상에서 실시간 차선 검출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주행 경로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331720"/>
            <a:ext cx="1965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객체 인식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YOLOv8로 장애물·신호등 실시간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 및 분류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31720"/>
            <a:ext cx="1965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행동 제어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결과→모터 제어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변환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통합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0366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endParaRPr lang="en-US" sz="1050" dirty="0"/>
          </a:p>
          <a:p>
            <a:pPr marL="0" indent="0">
              <a:buNone/>
            </a:pP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검증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팀 구성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 및 R&amp;R 재편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→ 3명 재편 후 전문화된 역할 분담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4일차: HW 모터 제어 지연 이슈 발생 → R&amp;R 재정립, 팀 4명 → 3명 재편 (5일차부터 적용)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/  Infra &amp;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시리얼 통신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965960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/  Control &amp; FSM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자율주행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96596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★  /  Perception &amp;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790583"/>
            <a:ext cx="2468880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 처리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차선·객체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노드</a:t>
            </a:r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 </a:t>
            </a:r>
            <a:r>
              <a:rPr lang="ko-KR" altLang="en-US" sz="1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정확도 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 확보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기반 4-Layer 구조: Edge · ESP32 · Simulation · </a:t>
            </a:r>
            <a:r>
              <a:rPr lang="en-US" sz="120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</a:t>
            </a:r>
            <a:r>
              <a:rPr lang="en-US" altLang="ko-KR" sz="1200" dirty="0"/>
              <a:t>4</a:t>
            </a:r>
            <a:r>
              <a:rPr lang="ko-KR" altLang="en-US" sz="1200" dirty="0"/>
              <a:t>개 레이어가 </a:t>
            </a:r>
            <a:r>
              <a:rPr lang="en-US" altLang="ko-KR" sz="1200" dirty="0"/>
              <a:t>ROS 2 </a:t>
            </a:r>
            <a:r>
              <a:rPr lang="ko-KR" altLang="en-US" sz="1200" dirty="0"/>
              <a:t>토픽으로 연결된 분산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6" name="Picture 2" descr="https://cdn-0.plantuml.com/plantuml/png/RLB1YXD14BtFLnJhmHamH28ULaHsakngO5UNp7eI2PNfIXntfZjqTroY28Ah8Bcig3TTzY3w0IhemI-Qv1_icMcJ7aqVqgbwxrMzgfuTfL7gQPPwwZZX4vIO0HUQu9a7vhGnFXvBCUMi8r8XuTAUETlR5IOa8sdptJ2ythhgFVUyYP7Wc61hDpgyrWB_3afsWfAWnpN94SOKRDdg3oBYogZl2aOF0HLKSH7MAp7pkuypak3tKKs69EKC3XDeGFzUr2hrogqg4qoXBHEZMnMtSH5MjB1dB8r84eyTLjXRCpg2QodI4WH_Bpe8IefD_sSpIh9fYZeHl3AxCdGRdz9GWCM5BAjKoLg10-JcpeZhVmfqKJqQ2fHixRD8_NLm6V9NF_Dt7_Dlfv3Fl-VpNulpCyY_Vbv-U0j-WPs_MBny4tZbosen0J5oTWqtO9UF8NHXPriRuR3dG1tmzmaPoMROgpLnLsMvRHUtIx1GruNiW1jw541WXgxUVldwOld-jxb-BEONiFnqbdyvzPpP6erRzLdwU69dDoqqWdy_x1y5diCf97NZJLKA1gmK78b94WUUNS46DYDDiIOs4CF7vezQILoUqTNVe1bdRF24qXNRBkVcXWw2YUoAet0-lMZ6DtHojjcKOYZqG6dKqxMr7U9icgL_00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485" y="1490472"/>
            <a:ext cx="6194528" cy="358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97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노드 구성도 &amp; 데이터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yolo_detector → behavior_selector → /cmd_vel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132896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camera_node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53853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538536"/>
            <a:ext cx="19202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538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yolo_detector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1867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GPU/CPU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286441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864416"/>
            <a:ext cx="19202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2864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lane_detector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193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132896"/>
            <a:ext cx="19202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behavior_selector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머신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2132896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motor_controller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변환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40280" y="2571808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2571808"/>
            <a:ext cx="182880" cy="70408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950016"/>
            <a:ext cx="457200" cy="50292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3275896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2571808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1812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/image_raw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60520" y="16025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/traffic_light_info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msg)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06240" y="30472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/lane_info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22243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 30Hz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50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발행 주기 30Hz : 실시간성 확보 (33ms 이내 응답)  |  custom msg 채택 : 신호등 색상·신뢰도를 단일 메시지로 전달, 파싱 오버헤드 최소화  |  노드 분리 : 인식/제어 독립 실행 → 장애 격리</a:t>
            </a:r>
            <a:endParaRPr lang="en-US" sz="950" dirty="0"/>
          </a:p>
        </p:txBody>
      </p:sp>
      <p:sp>
        <p:nvSpPr>
          <p:cNvPr id="39" name="TextBox 38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|  Infra &amp; Bridge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· 센서 데이터 수신 · 시리얼 통신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개발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 처리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↔ ESP32 시리얼 통신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 센서 데이터 확보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상세 내용 ① - 여기에 추가해 주세요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상세 내용 ② - 구현 방법 / 결과 / 코드 스크린샷 등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완식님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|  Infra &amp; Bridge  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세부 내용 ③ - 주요 구현 결과 / 수치 / 데모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트러블슈팅 / 이슈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결과 / 스크린샷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완식님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|  Control &amp; FSM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상세 내용 ① - FSM 상태 다이어그램 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상세 내용 ② - 모터 제어 구현 / 결과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|  Control &amp; FSM  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세부 내용 ③ - 주행 실험 결과 / 수치 / 데모 영상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트러블슈팅 / 이슈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결과 / 스크린샷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 |  Perception &amp; AI  ①  </a:t>
            </a:r>
            <a:endParaRPr lang="en-US" sz="2600" dirty="0"/>
          </a:p>
        </p:txBody>
      </p:sp>
      <p:sp>
        <p:nvSpPr>
          <p:cNvPr id="23" name="Text 3"/>
          <p:cNvSpPr/>
          <p:nvPr/>
        </p:nvSpPr>
        <p:spPr>
          <a:xfrm>
            <a:off x="365760" y="10872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· 횡단보도 · 정지선 인식 로직</a:t>
            </a:r>
            <a:endParaRPr lang="en-US" sz="1200" dirty="0"/>
          </a:p>
        </p:txBody>
      </p:sp>
      <p:sp>
        <p:nvSpPr>
          <p:cNvPr id="24" name="Shape 4"/>
          <p:cNvSpPr/>
          <p:nvPr/>
        </p:nvSpPr>
        <p:spPr>
          <a:xfrm>
            <a:off x="365760" y="1398131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21"/>
          <p:cNvSpPr/>
          <p:nvPr/>
        </p:nvSpPr>
        <p:spPr>
          <a:xfrm>
            <a:off x="2350008" y="1593342"/>
            <a:ext cx="658368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22"/>
          <p:cNvSpPr/>
          <p:nvPr/>
        </p:nvSpPr>
        <p:spPr>
          <a:xfrm>
            <a:off x="2441448" y="159334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</a:t>
            </a:r>
            <a:endParaRPr lang="en-US" sz="1000" dirty="0"/>
          </a:p>
        </p:txBody>
      </p:sp>
      <p:sp>
        <p:nvSpPr>
          <p:cNvPr id="203" name="Shape 23"/>
          <p:cNvSpPr/>
          <p:nvPr/>
        </p:nvSpPr>
        <p:spPr>
          <a:xfrm>
            <a:off x="2350008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 24"/>
          <p:cNvSpPr/>
          <p:nvPr/>
        </p:nvSpPr>
        <p:spPr>
          <a:xfrm>
            <a:off x="2404872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추출</a:t>
            </a:r>
            <a:endParaRPr lang="en-US" sz="850" dirty="0"/>
          </a:p>
        </p:txBody>
      </p:sp>
      <p:sp>
        <p:nvSpPr>
          <p:cNvPr id="205" name="Text 25"/>
          <p:cNvSpPr/>
          <p:nvPr/>
        </p:nvSpPr>
        <p:spPr>
          <a:xfrm>
            <a:off x="2404872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 변해도 색상(HSV)으로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노란선만 정확히 분리</a:t>
            </a:r>
            <a:endParaRPr lang="en-US" sz="750" dirty="0"/>
          </a:p>
        </p:txBody>
      </p:sp>
      <p:sp>
        <p:nvSpPr>
          <p:cNvPr id="206" name="Text 26"/>
          <p:cNvSpPr/>
          <p:nvPr/>
        </p:nvSpPr>
        <p:spPr>
          <a:xfrm>
            <a:off x="2404872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H:18~40, S:40+</a:t>
            </a:r>
            <a:endParaRPr lang="en-US" sz="650" dirty="0"/>
          </a:p>
        </p:txBody>
      </p:sp>
      <p:sp>
        <p:nvSpPr>
          <p:cNvPr id="207" name="Text 27"/>
          <p:cNvSpPr/>
          <p:nvPr/>
        </p:nvSpPr>
        <p:spPr>
          <a:xfrm>
            <a:off x="3616452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08" name="Shape 28"/>
          <p:cNvSpPr/>
          <p:nvPr/>
        </p:nvSpPr>
        <p:spPr>
          <a:xfrm>
            <a:off x="3671316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Text 29"/>
          <p:cNvSpPr/>
          <p:nvPr/>
        </p:nvSpPr>
        <p:spPr>
          <a:xfrm>
            <a:off x="3726180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점선 추출</a:t>
            </a:r>
            <a:endParaRPr lang="en-US" sz="850" dirty="0"/>
          </a:p>
        </p:txBody>
      </p:sp>
      <p:sp>
        <p:nvSpPr>
          <p:cNvPr id="210" name="Text 30"/>
          <p:cNvSpPr/>
          <p:nvPr/>
        </p:nvSpPr>
        <p:spPr>
          <a:xfrm>
            <a:off x="3726180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바닥에서 점선 대비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강제로 높여 윤곽 복원</a:t>
            </a:r>
            <a:endParaRPr lang="en-US" sz="750" dirty="0"/>
          </a:p>
        </p:txBody>
      </p:sp>
      <p:sp>
        <p:nvSpPr>
          <p:cNvPr id="211" name="Text 31"/>
          <p:cNvSpPr/>
          <p:nvPr/>
        </p:nvSpPr>
        <p:spPr>
          <a:xfrm>
            <a:off x="3726180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clipLimit=3.0</a:t>
            </a:r>
            <a:endParaRPr lang="en-US" sz="650" dirty="0"/>
          </a:p>
        </p:txBody>
      </p:sp>
      <p:sp>
        <p:nvSpPr>
          <p:cNvPr id="212" name="Text 32"/>
          <p:cNvSpPr/>
          <p:nvPr/>
        </p:nvSpPr>
        <p:spPr>
          <a:xfrm>
            <a:off x="4937760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3" name="Shape 33"/>
          <p:cNvSpPr/>
          <p:nvPr/>
        </p:nvSpPr>
        <p:spPr>
          <a:xfrm>
            <a:off x="4992624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Text 34"/>
          <p:cNvSpPr/>
          <p:nvPr/>
        </p:nvSpPr>
        <p:spPr>
          <a:xfrm>
            <a:off x="5047488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반사광 제거</a:t>
            </a:r>
            <a:endParaRPr lang="en-US" sz="850" dirty="0"/>
          </a:p>
        </p:txBody>
      </p:sp>
      <p:sp>
        <p:nvSpPr>
          <p:cNvPr id="215" name="Text 35"/>
          <p:cNvSpPr/>
          <p:nvPr/>
        </p:nvSpPr>
        <p:spPr>
          <a:xfrm>
            <a:off x="5047488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픽셀이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차선으로 오인되는 것 방지</a:t>
            </a:r>
            <a:endParaRPr lang="en-US" sz="750" dirty="0"/>
          </a:p>
        </p:txBody>
      </p:sp>
      <p:sp>
        <p:nvSpPr>
          <p:cNvPr id="216" name="Text 36"/>
          <p:cNvSpPr/>
          <p:nvPr/>
        </p:nvSpPr>
        <p:spPr>
          <a:xfrm>
            <a:off x="5047488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&gt; 220 → 마스크 제거</a:t>
            </a:r>
            <a:endParaRPr lang="en-US" sz="650" dirty="0"/>
          </a:p>
        </p:txBody>
      </p:sp>
      <p:sp>
        <p:nvSpPr>
          <p:cNvPr id="217" name="Text 37"/>
          <p:cNvSpPr/>
          <p:nvPr/>
        </p:nvSpPr>
        <p:spPr>
          <a:xfrm>
            <a:off x="6259068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8" name="Shape 38"/>
          <p:cNvSpPr/>
          <p:nvPr/>
        </p:nvSpPr>
        <p:spPr>
          <a:xfrm>
            <a:off x="6313932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ext 39"/>
          <p:cNvSpPr/>
          <p:nvPr/>
        </p:nvSpPr>
        <p:spPr>
          <a:xfrm>
            <a:off x="6368796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번호 판단</a:t>
            </a:r>
            <a:endParaRPr lang="en-US" sz="850" dirty="0"/>
          </a:p>
        </p:txBody>
      </p:sp>
      <p:sp>
        <p:nvSpPr>
          <p:cNvPr id="220" name="Text 40"/>
          <p:cNvSpPr/>
          <p:nvPr/>
        </p:nvSpPr>
        <p:spPr>
          <a:xfrm>
            <a:off x="6368796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좌우에 어떤 선이 있는지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조합해 1~4번 차선 결정</a:t>
            </a:r>
            <a:endParaRPr lang="en-US" sz="750" dirty="0"/>
          </a:p>
        </p:txBody>
      </p:sp>
      <p:sp>
        <p:nvSpPr>
          <p:cNvPr id="221" name="Text 41"/>
          <p:cNvSpPr/>
          <p:nvPr/>
        </p:nvSpPr>
        <p:spPr>
          <a:xfrm>
            <a:off x="6368796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yellow_left/right → 0~4</a:t>
            </a:r>
            <a:endParaRPr lang="en-US" sz="650" dirty="0"/>
          </a:p>
        </p:txBody>
      </p:sp>
      <p:sp>
        <p:nvSpPr>
          <p:cNvPr id="222" name="Shape 42"/>
          <p:cNvSpPr/>
          <p:nvPr/>
        </p:nvSpPr>
        <p:spPr>
          <a:xfrm>
            <a:off x="7744968" y="1904238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ext 43"/>
          <p:cNvSpPr/>
          <p:nvPr/>
        </p:nvSpPr>
        <p:spPr>
          <a:xfrm>
            <a:off x="7790688" y="1904238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debug_roi_lane.png</a:t>
            </a:r>
            <a:endParaRPr lang="en-US" sz="700" dirty="0"/>
          </a:p>
        </p:txBody>
      </p:sp>
      <p:sp>
        <p:nvSpPr>
          <p:cNvPr id="224" name="Shape 44"/>
          <p:cNvSpPr/>
          <p:nvPr/>
        </p:nvSpPr>
        <p:spPr>
          <a:xfrm>
            <a:off x="2350008" y="2800350"/>
            <a:ext cx="65836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Text 45"/>
          <p:cNvSpPr/>
          <p:nvPr/>
        </p:nvSpPr>
        <p:spPr>
          <a:xfrm>
            <a:off x="2441448" y="280035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인식</a:t>
            </a:r>
            <a:endParaRPr lang="en-US" sz="1000" dirty="0"/>
          </a:p>
        </p:txBody>
      </p:sp>
      <p:sp>
        <p:nvSpPr>
          <p:cNvPr id="226" name="Shape 46"/>
          <p:cNvSpPr/>
          <p:nvPr/>
        </p:nvSpPr>
        <p:spPr>
          <a:xfrm>
            <a:off x="2350008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Text 47"/>
          <p:cNvSpPr/>
          <p:nvPr/>
        </p:nvSpPr>
        <p:spPr>
          <a:xfrm>
            <a:off x="2404872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추출</a:t>
            </a:r>
            <a:endParaRPr lang="en-US" sz="850" dirty="0"/>
          </a:p>
        </p:txBody>
      </p:sp>
      <p:sp>
        <p:nvSpPr>
          <p:cNvPr id="228" name="Text 48"/>
          <p:cNvSpPr/>
          <p:nvPr/>
        </p:nvSpPr>
        <p:spPr>
          <a:xfrm>
            <a:off x="2404872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후 이진화로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흰색 줄무늬 패턴 선명하게</a:t>
            </a:r>
            <a:endParaRPr lang="en-US" sz="750" dirty="0"/>
          </a:p>
        </p:txBody>
      </p:sp>
      <p:sp>
        <p:nvSpPr>
          <p:cNvPr id="229" name="Text 49"/>
          <p:cNvSpPr/>
          <p:nvPr/>
        </p:nvSpPr>
        <p:spPr>
          <a:xfrm>
            <a:off x="2404872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→ THRESH_BINARY_INV</a:t>
            </a:r>
            <a:endParaRPr lang="en-US" sz="650" dirty="0"/>
          </a:p>
        </p:txBody>
      </p:sp>
      <p:sp>
        <p:nvSpPr>
          <p:cNvPr id="230" name="Text 50"/>
          <p:cNvSpPr/>
          <p:nvPr/>
        </p:nvSpPr>
        <p:spPr>
          <a:xfrm>
            <a:off x="3616452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1" name="Shape 51"/>
          <p:cNvSpPr/>
          <p:nvPr/>
        </p:nvSpPr>
        <p:spPr>
          <a:xfrm>
            <a:off x="3671316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Text 52"/>
          <p:cNvSpPr/>
          <p:nvPr/>
        </p:nvSpPr>
        <p:spPr>
          <a:xfrm>
            <a:off x="3726180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제거</a:t>
            </a:r>
            <a:endParaRPr lang="en-US" sz="850" dirty="0"/>
          </a:p>
        </p:txBody>
      </p:sp>
      <p:sp>
        <p:nvSpPr>
          <p:cNvPr id="233" name="Text 53"/>
          <p:cNvSpPr/>
          <p:nvPr/>
        </p:nvSpPr>
        <p:spPr>
          <a:xfrm>
            <a:off x="3726180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감지한 장애물 영역을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지워 오탐 방지</a:t>
            </a:r>
            <a:endParaRPr lang="en-US" sz="750" dirty="0"/>
          </a:p>
        </p:txBody>
      </p:sp>
      <p:sp>
        <p:nvSpPr>
          <p:cNvPr id="234" name="Text 54"/>
          <p:cNvSpPr/>
          <p:nvPr/>
        </p:nvSpPr>
        <p:spPr>
          <a:xfrm>
            <a:off x="3726180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cw_top[bbox영역] = 0</a:t>
            </a:r>
            <a:endParaRPr lang="en-US" sz="650" dirty="0"/>
          </a:p>
        </p:txBody>
      </p:sp>
      <p:sp>
        <p:nvSpPr>
          <p:cNvPr id="235" name="Text 55"/>
          <p:cNvSpPr/>
          <p:nvPr/>
        </p:nvSpPr>
        <p:spPr>
          <a:xfrm>
            <a:off x="4937760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6" name="Shape 56"/>
          <p:cNvSpPr/>
          <p:nvPr/>
        </p:nvSpPr>
        <p:spPr>
          <a:xfrm>
            <a:off x="4992624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Text 57"/>
          <p:cNvSpPr/>
          <p:nvPr/>
        </p:nvSpPr>
        <p:spPr>
          <a:xfrm>
            <a:off x="5047488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윤곽선 추출</a:t>
            </a:r>
            <a:endParaRPr lang="en-US" sz="850" dirty="0"/>
          </a:p>
        </p:txBody>
      </p:sp>
      <p:sp>
        <p:nvSpPr>
          <p:cNvPr id="238" name="Text 58"/>
          <p:cNvSpPr/>
          <p:nvPr/>
        </p:nvSpPr>
        <p:spPr>
          <a:xfrm>
            <a:off x="5047488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덩어리의 위치와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크기를 개별로 파악</a:t>
            </a:r>
            <a:endParaRPr lang="en-US" sz="750" dirty="0"/>
          </a:p>
        </p:txBody>
      </p:sp>
      <p:sp>
        <p:nvSpPr>
          <p:cNvPr id="239" name="Text 59"/>
          <p:cNvSpPr/>
          <p:nvPr/>
        </p:nvSpPr>
        <p:spPr>
          <a:xfrm>
            <a:off x="5047488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</a:t>
            </a:r>
            <a:endParaRPr lang="en-US" sz="650" dirty="0"/>
          </a:p>
        </p:txBody>
      </p:sp>
      <p:sp>
        <p:nvSpPr>
          <p:cNvPr id="240" name="Text 60"/>
          <p:cNvSpPr/>
          <p:nvPr/>
        </p:nvSpPr>
        <p:spPr>
          <a:xfrm>
            <a:off x="6259068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41" name="Shape 61"/>
          <p:cNvSpPr/>
          <p:nvPr/>
        </p:nvSpPr>
        <p:spPr>
          <a:xfrm>
            <a:off x="6313932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Text 62"/>
          <p:cNvSpPr/>
          <p:nvPr/>
        </p:nvSpPr>
        <p:spPr>
          <a:xfrm>
            <a:off x="6368796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판정</a:t>
            </a:r>
            <a:endParaRPr lang="en-US" sz="850" dirty="0"/>
          </a:p>
        </p:txBody>
      </p:sp>
      <p:sp>
        <p:nvSpPr>
          <p:cNvPr id="243" name="Text 63"/>
          <p:cNvSpPr/>
          <p:nvPr/>
        </p:nvSpPr>
        <p:spPr>
          <a:xfrm>
            <a:off x="6368796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줄무늬가 일정 간격으로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넓게 퍼져있을 때만 인정</a:t>
            </a:r>
            <a:endParaRPr lang="en-US" sz="750" dirty="0"/>
          </a:p>
        </p:txBody>
      </p:sp>
      <p:sp>
        <p:nvSpPr>
          <p:cNvPr id="244" name="Text 64"/>
          <p:cNvSpPr/>
          <p:nvPr/>
        </p:nvSpPr>
        <p:spPr>
          <a:xfrm>
            <a:off x="6368796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mean×0.6</a:t>
            </a:r>
            <a:endParaRPr lang="en-US" sz="650" dirty="0"/>
          </a:p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x_spread ≥ 480px</a:t>
            </a:r>
            <a:endParaRPr lang="en-US" sz="650" dirty="0"/>
          </a:p>
        </p:txBody>
      </p:sp>
      <p:sp>
        <p:nvSpPr>
          <p:cNvPr id="245" name="Shape 65"/>
          <p:cNvSpPr/>
          <p:nvPr/>
        </p:nvSpPr>
        <p:spPr>
          <a:xfrm>
            <a:off x="7744968" y="3111246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6" name="Text 66"/>
          <p:cNvSpPr/>
          <p:nvPr/>
        </p:nvSpPr>
        <p:spPr>
          <a:xfrm>
            <a:off x="7790688" y="3111246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debug_cw_top_contours.png</a:t>
            </a:r>
            <a:endParaRPr lang="en-US" sz="700" dirty="0"/>
          </a:p>
        </p:txBody>
      </p:sp>
      <p:sp>
        <p:nvSpPr>
          <p:cNvPr id="247" name="Shape 67"/>
          <p:cNvSpPr/>
          <p:nvPr/>
        </p:nvSpPr>
        <p:spPr>
          <a:xfrm>
            <a:off x="2350008" y="4007358"/>
            <a:ext cx="65836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8" name="Text 68"/>
          <p:cNvSpPr/>
          <p:nvPr/>
        </p:nvSpPr>
        <p:spPr>
          <a:xfrm>
            <a:off x="2441448" y="400735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인식</a:t>
            </a:r>
            <a:endParaRPr lang="en-US" sz="1000" dirty="0"/>
          </a:p>
        </p:txBody>
      </p:sp>
      <p:sp>
        <p:nvSpPr>
          <p:cNvPr id="249" name="Shape 69"/>
          <p:cNvSpPr/>
          <p:nvPr/>
        </p:nvSpPr>
        <p:spPr>
          <a:xfrm>
            <a:off x="2350008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Text 70"/>
          <p:cNvSpPr/>
          <p:nvPr/>
        </p:nvSpPr>
        <p:spPr>
          <a:xfrm>
            <a:off x="2404872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빨간선 추출</a:t>
            </a:r>
            <a:endParaRPr lang="en-US" sz="850" dirty="0"/>
          </a:p>
        </p:txBody>
      </p:sp>
      <p:sp>
        <p:nvSpPr>
          <p:cNvPr id="251" name="Text 71"/>
          <p:cNvSpPr/>
          <p:nvPr/>
        </p:nvSpPr>
        <p:spPr>
          <a:xfrm>
            <a:off x="2404872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정지선만 HSV로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색상과 분리</a:t>
            </a:r>
            <a:endParaRPr lang="en-US" sz="750" dirty="0"/>
          </a:p>
        </p:txBody>
      </p:sp>
      <p:sp>
        <p:nvSpPr>
          <p:cNvPr id="252" name="Text 72"/>
          <p:cNvSpPr/>
          <p:nvPr/>
        </p:nvSpPr>
        <p:spPr>
          <a:xfrm>
            <a:off x="2404872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H:0~10, 170~180</a:t>
            </a:r>
            <a:endParaRPr lang="en-US" sz="650" dirty="0"/>
          </a:p>
        </p:txBody>
      </p:sp>
      <p:sp>
        <p:nvSpPr>
          <p:cNvPr id="253" name="Text 73"/>
          <p:cNvSpPr/>
          <p:nvPr/>
        </p:nvSpPr>
        <p:spPr>
          <a:xfrm>
            <a:off x="3616452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4" name="Shape 74"/>
          <p:cNvSpPr/>
          <p:nvPr/>
        </p:nvSpPr>
        <p:spPr>
          <a:xfrm>
            <a:off x="3671316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Text 75"/>
          <p:cNvSpPr/>
          <p:nvPr/>
        </p:nvSpPr>
        <p:spPr>
          <a:xfrm>
            <a:off x="3726180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수평선 검출</a:t>
            </a:r>
            <a:endParaRPr lang="en-US" sz="850" dirty="0"/>
          </a:p>
        </p:txBody>
      </p:sp>
      <p:sp>
        <p:nvSpPr>
          <p:cNvPr id="256" name="Text 76"/>
          <p:cNvSpPr/>
          <p:nvPr/>
        </p:nvSpPr>
        <p:spPr>
          <a:xfrm>
            <a:off x="3726180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가로로 뻗은 선만 정지선으로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인정해 오탐 줄임</a:t>
            </a:r>
            <a:endParaRPr lang="en-US" sz="750" dirty="0"/>
          </a:p>
        </p:txBody>
      </p:sp>
      <p:sp>
        <p:nvSpPr>
          <p:cNvPr id="257" name="Text 77"/>
          <p:cNvSpPr/>
          <p:nvPr/>
        </p:nvSpPr>
        <p:spPr>
          <a:xfrm>
            <a:off x="3726180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Hough, theta≈90°</a:t>
            </a:r>
            <a:endParaRPr lang="en-US" sz="650" dirty="0"/>
          </a:p>
        </p:txBody>
      </p:sp>
      <p:sp>
        <p:nvSpPr>
          <p:cNvPr id="258" name="Text 78"/>
          <p:cNvSpPr/>
          <p:nvPr/>
        </p:nvSpPr>
        <p:spPr>
          <a:xfrm>
            <a:off x="4937760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9" name="Shape 79"/>
          <p:cNvSpPr/>
          <p:nvPr/>
        </p:nvSpPr>
        <p:spPr>
          <a:xfrm>
            <a:off x="4992624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Text 80"/>
          <p:cNvSpPr/>
          <p:nvPr/>
        </p:nvSpPr>
        <p:spPr>
          <a:xfrm>
            <a:off x="5047488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측정</a:t>
            </a:r>
            <a:endParaRPr lang="en-US" sz="850" dirty="0"/>
          </a:p>
        </p:txBody>
      </p:sp>
      <p:sp>
        <p:nvSpPr>
          <p:cNvPr id="261" name="Text 81"/>
          <p:cNvSpPr/>
          <p:nvPr/>
        </p:nvSpPr>
        <p:spPr>
          <a:xfrm>
            <a:off x="5047488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정지선과 얼마나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틀어졌는지 각도 계산</a:t>
            </a:r>
            <a:endParaRPr lang="en-US" sz="750" dirty="0"/>
          </a:p>
        </p:txBody>
      </p:sp>
      <p:sp>
        <p:nvSpPr>
          <p:cNvPr id="262" name="Text 82"/>
          <p:cNvSpPr/>
          <p:nvPr/>
        </p:nvSpPr>
        <p:spPr>
          <a:xfrm>
            <a:off x="5047488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atan2(dx, dy)</a:t>
            </a:r>
            <a:endParaRPr lang="en-US" sz="650" dirty="0"/>
          </a:p>
        </p:txBody>
      </p:sp>
      <p:sp>
        <p:nvSpPr>
          <p:cNvPr id="263" name="Text 83"/>
          <p:cNvSpPr/>
          <p:nvPr/>
        </p:nvSpPr>
        <p:spPr>
          <a:xfrm>
            <a:off x="6259068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64" name="Shape 84"/>
          <p:cNvSpPr/>
          <p:nvPr/>
        </p:nvSpPr>
        <p:spPr>
          <a:xfrm>
            <a:off x="6313932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Text 85"/>
          <p:cNvSpPr/>
          <p:nvPr/>
        </p:nvSpPr>
        <p:spPr>
          <a:xfrm>
            <a:off x="6368796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보정</a:t>
            </a:r>
            <a:endParaRPr lang="en-US" sz="850" dirty="0"/>
          </a:p>
        </p:txBody>
      </p:sp>
      <p:sp>
        <p:nvSpPr>
          <p:cNvPr id="266" name="Text 86"/>
          <p:cNvSpPr/>
          <p:nvPr/>
        </p:nvSpPr>
        <p:spPr>
          <a:xfrm>
            <a:off x="6368796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기울어진 만큼 차선 중심을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보정해 정렬 후 정지</a:t>
            </a:r>
            <a:endParaRPr lang="en-US" sz="750" dirty="0"/>
          </a:p>
        </p:txBody>
      </p:sp>
      <p:sp>
        <p:nvSpPr>
          <p:cNvPr id="267" name="Text 87"/>
          <p:cNvSpPr/>
          <p:nvPr/>
        </p:nvSpPr>
        <p:spPr>
          <a:xfrm>
            <a:off x="6368796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stop_line_angle_offset</a:t>
            </a:r>
            <a:endParaRPr lang="en-US" sz="650" dirty="0"/>
          </a:p>
        </p:txBody>
      </p:sp>
      <p:sp>
        <p:nvSpPr>
          <p:cNvPr id="268" name="Shape 88"/>
          <p:cNvSpPr/>
          <p:nvPr/>
        </p:nvSpPr>
        <p:spPr>
          <a:xfrm>
            <a:off x="7744968" y="4318254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Text 89"/>
          <p:cNvSpPr/>
          <p:nvPr/>
        </p:nvSpPr>
        <p:spPr>
          <a:xfrm>
            <a:off x="7790688" y="4318254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processed_viz.png</a:t>
            </a:r>
            <a:endParaRPr lang="en-US" sz="700" dirty="0"/>
          </a:p>
        </p:txBody>
      </p:sp>
      <p:sp>
        <p:nvSpPr>
          <p:cNvPr id="270" name="Shape 5"/>
          <p:cNvSpPr/>
          <p:nvPr/>
        </p:nvSpPr>
        <p:spPr>
          <a:xfrm>
            <a:off x="312669" y="1575741"/>
            <a:ext cx="1920240" cy="3429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56677"/>
            </a:solidFill>
            <a:prstDash val="solid"/>
          </a:ln>
        </p:spPr>
      </p:sp>
      <p:sp>
        <p:nvSpPr>
          <p:cNvPr id="271" name="Text 6"/>
          <p:cNvSpPr/>
          <p:nvPr/>
        </p:nvSpPr>
        <p:spPr>
          <a:xfrm>
            <a:off x="312669" y="1621461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</a:t>
            </a:r>
            <a:endParaRPr lang="en-US" sz="750" dirty="0"/>
          </a:p>
        </p:txBody>
      </p:sp>
      <p:sp>
        <p:nvSpPr>
          <p:cNvPr id="272" name="Shape 7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solidFill>
            <a:srgbClr val="3A4A5A"/>
          </a:solidFill>
          <a:ln w="12700">
            <a:solidFill>
              <a:srgbClr val="4A5A6A"/>
            </a:solidFill>
            <a:prstDash val="solid"/>
          </a:ln>
        </p:spPr>
      </p:sp>
      <p:sp>
        <p:nvSpPr>
          <p:cNvPr id="273" name="Text 8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700" dirty="0"/>
          </a:p>
        </p:txBody>
      </p:sp>
      <p:sp>
        <p:nvSpPr>
          <p:cNvPr id="274" name="Shape 9"/>
          <p:cNvSpPr/>
          <p:nvPr/>
        </p:nvSpPr>
        <p:spPr>
          <a:xfrm>
            <a:off x="422397" y="2792807"/>
            <a:ext cx="1700784" cy="2093062"/>
          </a:xfrm>
          <a:prstGeom prst="rect">
            <a:avLst/>
          </a:prstGeom>
          <a:solidFill>
            <a:srgbClr val="3D3000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275" name="Text 10"/>
          <p:cNvSpPr/>
          <p:nvPr/>
        </p:nvSpPr>
        <p:spPr>
          <a:xfrm>
            <a:off x="422397" y="2865959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ROI</a:t>
            </a:r>
            <a:endParaRPr lang="en-US" sz="750" dirty="0"/>
          </a:p>
        </p:txBody>
      </p:sp>
      <p:sp>
        <p:nvSpPr>
          <p:cNvPr id="276" name="Text 11"/>
          <p:cNvSpPr/>
          <p:nvPr/>
        </p:nvSpPr>
        <p:spPr>
          <a:xfrm>
            <a:off x="422397" y="3048839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0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h×0.35 ~ h</a:t>
            </a:r>
            <a:endParaRPr lang="en-US" sz="650" dirty="0"/>
          </a:p>
        </p:txBody>
      </p:sp>
      <p:sp>
        <p:nvSpPr>
          <p:cNvPr id="277" name="Shape 12"/>
          <p:cNvSpPr/>
          <p:nvPr/>
        </p:nvSpPr>
        <p:spPr>
          <a:xfrm>
            <a:off x="422397" y="3169558"/>
            <a:ext cx="1700784" cy="460474"/>
          </a:xfrm>
          <a:prstGeom prst="rect">
            <a:avLst/>
          </a:prstGeom>
          <a:solidFill>
            <a:srgbClr val="003D35"/>
          </a:solidFill>
          <a:ln w="25400">
            <a:solidFill>
              <a:srgbClr val="00E5C8"/>
            </a:solidFill>
            <a:prstDash val="solid"/>
          </a:ln>
        </p:spPr>
      </p:sp>
      <p:sp>
        <p:nvSpPr>
          <p:cNvPr id="278" name="Text 13"/>
          <p:cNvSpPr/>
          <p:nvPr/>
        </p:nvSpPr>
        <p:spPr>
          <a:xfrm>
            <a:off x="422397" y="322442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ROI</a:t>
            </a:r>
            <a:endParaRPr lang="en-US" sz="700" dirty="0"/>
          </a:p>
        </p:txBody>
      </p:sp>
      <p:sp>
        <p:nvSpPr>
          <p:cNvPr id="279" name="Text 14"/>
          <p:cNvSpPr/>
          <p:nvPr/>
        </p:nvSpPr>
        <p:spPr>
          <a:xfrm>
            <a:off x="422397" y="3398158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0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</a:t>
            </a:r>
            <a:endParaRPr lang="en-US" sz="650" dirty="0"/>
          </a:p>
        </p:txBody>
      </p:sp>
      <p:sp>
        <p:nvSpPr>
          <p:cNvPr id="280" name="Shape 15"/>
          <p:cNvSpPr/>
          <p:nvPr/>
        </p:nvSpPr>
        <p:spPr>
          <a:xfrm>
            <a:off x="422397" y="4090506"/>
            <a:ext cx="1700784" cy="627918"/>
          </a:xfrm>
          <a:prstGeom prst="rect">
            <a:avLst/>
          </a:prstGeom>
          <a:solidFill>
            <a:srgbClr val="3D0A00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281" name="Text 16"/>
          <p:cNvSpPr/>
          <p:nvPr/>
        </p:nvSpPr>
        <p:spPr>
          <a:xfrm>
            <a:off x="422397" y="414537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ROI</a:t>
            </a:r>
            <a:endParaRPr lang="en-US" sz="700" dirty="0"/>
          </a:p>
        </p:txBody>
      </p:sp>
      <p:sp>
        <p:nvSpPr>
          <p:cNvPr id="282" name="Text 17"/>
          <p:cNvSpPr/>
          <p:nvPr/>
        </p:nvSpPr>
        <p:spPr>
          <a:xfrm>
            <a:off x="422397" y="4319106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h×0.7 ~ h</a:t>
            </a:r>
            <a:endParaRPr lang="en-US" sz="650" dirty="0"/>
          </a:p>
        </p:txBody>
      </p:sp>
      <p:sp>
        <p:nvSpPr>
          <p:cNvPr id="283" name="Shape 18"/>
          <p:cNvSpPr/>
          <p:nvPr/>
        </p:nvSpPr>
        <p:spPr>
          <a:xfrm>
            <a:off x="422397" y="4346373"/>
            <a:ext cx="128016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84" name="Text 19"/>
          <p:cNvSpPr/>
          <p:nvPr/>
        </p:nvSpPr>
        <p:spPr>
          <a:xfrm>
            <a:off x="605277" y="4318941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 (h×0.35~h)</a:t>
            </a:r>
            <a:endParaRPr lang="en-US" sz="650" dirty="0"/>
          </a:p>
        </p:txBody>
      </p:sp>
      <p:sp>
        <p:nvSpPr>
          <p:cNvPr id="285" name="Shape 20"/>
          <p:cNvSpPr/>
          <p:nvPr/>
        </p:nvSpPr>
        <p:spPr>
          <a:xfrm>
            <a:off x="422397" y="4547541"/>
            <a:ext cx="128016" cy="128016"/>
          </a:xfrm>
          <a:prstGeom prst="rect">
            <a:avLst/>
          </a:prstGeom>
          <a:solidFill>
            <a:srgbClr val="00E5C8"/>
          </a:solidFill>
          <a:ln w="12700">
            <a:solidFill>
              <a:srgbClr val="00E5C8"/>
            </a:solidFill>
            <a:prstDash val="solid"/>
          </a:ln>
        </p:spPr>
      </p:sp>
      <p:sp>
        <p:nvSpPr>
          <p:cNvPr id="286" name="Text 21"/>
          <p:cNvSpPr/>
          <p:nvPr/>
        </p:nvSpPr>
        <p:spPr>
          <a:xfrm>
            <a:off x="605277" y="4520109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 (cw_top)</a:t>
            </a:r>
            <a:endParaRPr lang="en-US" sz="650" dirty="0"/>
          </a:p>
        </p:txBody>
      </p:sp>
      <p:sp>
        <p:nvSpPr>
          <p:cNvPr id="287" name="Shape 22"/>
          <p:cNvSpPr/>
          <p:nvPr/>
        </p:nvSpPr>
        <p:spPr>
          <a:xfrm>
            <a:off x="422397" y="4748709"/>
            <a:ext cx="128016" cy="12801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8" name="Text 23"/>
          <p:cNvSpPr/>
          <p:nvPr/>
        </p:nvSpPr>
        <p:spPr>
          <a:xfrm>
            <a:off x="605277" y="4721277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 (h×0.7~h)</a:t>
            </a:r>
            <a:endParaRPr lang="en-US" sz="65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2" y="3113010"/>
            <a:ext cx="1243036" cy="8223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318254"/>
            <a:ext cx="1184148" cy="75856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848" y="1904238"/>
            <a:ext cx="1207984" cy="782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 |  Perception &amp; AI  </a:t>
            </a:r>
            <a:r>
              <a:rPr lang="en-US" sz="260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43" name="Text 3"/>
          <p:cNvSpPr/>
          <p:nvPr/>
        </p:nvSpPr>
        <p:spPr>
          <a:xfrm>
            <a:off x="364166" y="10752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과정에서 발생한 이슈와 해결 방법</a:t>
            </a:r>
            <a:endParaRPr lang="en-US" sz="1200" dirty="0"/>
          </a:p>
        </p:txBody>
      </p:sp>
      <p:sp>
        <p:nvSpPr>
          <p:cNvPr id="77" name="Shape 4"/>
          <p:cNvSpPr/>
          <p:nvPr/>
        </p:nvSpPr>
        <p:spPr>
          <a:xfrm>
            <a:off x="342900" y="1412715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"/>
          <p:cNvSpPr/>
          <p:nvPr/>
        </p:nvSpPr>
        <p:spPr>
          <a:xfrm>
            <a:off x="25146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6"/>
          <p:cNvSpPr/>
          <p:nvPr/>
        </p:nvSpPr>
        <p:spPr>
          <a:xfrm>
            <a:off x="251460" y="1577307"/>
            <a:ext cx="42062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"/>
          <p:cNvSpPr/>
          <p:nvPr/>
        </p:nvSpPr>
        <p:spPr>
          <a:xfrm>
            <a:off x="34290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→ 차선 인식 실패</a:t>
            </a:r>
            <a:endParaRPr lang="en-US" sz="950" dirty="0"/>
          </a:p>
        </p:txBody>
      </p:sp>
      <p:sp>
        <p:nvSpPr>
          <p:cNvPr id="81" name="Text 8"/>
          <p:cNvSpPr/>
          <p:nvPr/>
        </p:nvSpPr>
        <p:spPr>
          <a:xfrm>
            <a:off x="36118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82" name="Text 9"/>
          <p:cNvSpPr/>
          <p:nvPr/>
        </p:nvSpPr>
        <p:spPr>
          <a:xfrm>
            <a:off x="87325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짙은 회색 바닥에 형광등이 반사되면서 노란선 색이 흐려지고, 검은 점선과 바닥이 구분되지 않음</a:t>
            </a:r>
            <a:endParaRPr lang="en-US" sz="800" dirty="0"/>
          </a:p>
        </p:txBody>
      </p:sp>
      <p:sp>
        <p:nvSpPr>
          <p:cNvPr id="83" name="Shape 10"/>
          <p:cNvSpPr/>
          <p:nvPr/>
        </p:nvSpPr>
        <p:spPr>
          <a:xfrm>
            <a:off x="36118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11"/>
          <p:cNvSpPr/>
          <p:nvPr/>
        </p:nvSpPr>
        <p:spPr>
          <a:xfrm>
            <a:off x="36118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85" name="Text 12"/>
          <p:cNvSpPr/>
          <p:nvPr/>
        </p:nvSpPr>
        <p:spPr>
          <a:xfrm>
            <a:off x="87325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감지 감도를 높여 흐린 색도 잡히도록 허용 범위 완화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 하한 완화 (80→40)</a:t>
            </a:r>
            <a:endParaRPr lang="en-US" sz="800" dirty="0"/>
          </a:p>
        </p:txBody>
      </p:sp>
      <p:sp>
        <p:nvSpPr>
          <p:cNvPr id="86" name="Text 13"/>
          <p:cNvSpPr/>
          <p:nvPr/>
        </p:nvSpPr>
        <p:spPr>
          <a:xfrm>
            <a:off x="87325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강도를 높여 점선 윤곽이 더 선명하게 드러나도록 조정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 (1.5→3.0)</a:t>
            </a:r>
            <a:endParaRPr lang="en-US" sz="800" dirty="0"/>
          </a:p>
        </p:txBody>
      </p:sp>
      <p:sp>
        <p:nvSpPr>
          <p:cNvPr id="87" name="Text 14"/>
          <p:cNvSpPr/>
          <p:nvPr/>
        </p:nvSpPr>
        <p:spPr>
          <a:xfrm>
            <a:off x="87325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반사로 과도하게 밝아진 픽셀을 차선 탐색 전 미리 제거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V채널 220 이상 마스킹</a:t>
            </a:r>
            <a:endParaRPr lang="en-US" sz="800" dirty="0"/>
          </a:p>
        </p:txBody>
      </p:sp>
      <p:sp>
        <p:nvSpPr>
          <p:cNvPr id="88" name="Shape 15"/>
          <p:cNvSpPr/>
          <p:nvPr/>
        </p:nvSpPr>
        <p:spPr>
          <a:xfrm>
            <a:off x="468630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16"/>
          <p:cNvSpPr/>
          <p:nvPr/>
        </p:nvSpPr>
        <p:spPr>
          <a:xfrm>
            <a:off x="4686300" y="1577307"/>
            <a:ext cx="4206240" cy="3108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17"/>
          <p:cNvSpPr/>
          <p:nvPr/>
        </p:nvSpPr>
        <p:spPr>
          <a:xfrm>
            <a:off x="477774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교체 → OpenCV 파라미터 전면 재조정</a:t>
            </a:r>
            <a:endParaRPr lang="en-US" sz="950" dirty="0"/>
          </a:p>
        </p:txBody>
      </p:sp>
      <p:sp>
        <p:nvSpPr>
          <p:cNvPr id="91" name="Text 18"/>
          <p:cNvSpPr/>
          <p:nvPr/>
        </p:nvSpPr>
        <p:spPr>
          <a:xfrm>
            <a:off x="479602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92" name="Text 19"/>
          <p:cNvSpPr/>
          <p:nvPr/>
        </p:nvSpPr>
        <p:spPr>
          <a:xfrm>
            <a:off x="530809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기종 교체 + 아래 방향으로 각도 변경으로 화각·밝기·왜곡이 달라져 기존 설정값 전체가 무효화됨</a:t>
            </a:r>
            <a:endParaRPr lang="en-US" sz="800" dirty="0"/>
          </a:p>
        </p:txBody>
      </p:sp>
      <p:sp>
        <p:nvSpPr>
          <p:cNvPr id="93" name="Shape 20"/>
          <p:cNvSpPr/>
          <p:nvPr/>
        </p:nvSpPr>
        <p:spPr>
          <a:xfrm>
            <a:off x="479602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21"/>
          <p:cNvSpPr/>
          <p:nvPr/>
        </p:nvSpPr>
        <p:spPr>
          <a:xfrm>
            <a:off x="479602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95" name="Text 22"/>
          <p:cNvSpPr/>
          <p:nvPr/>
        </p:nvSpPr>
        <p:spPr>
          <a:xfrm>
            <a:off x="530809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먼 도로까지 인식하도록 분석 구간 상단으로 확장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h×0.55 → h×0.35</a:t>
            </a:r>
            <a:endParaRPr lang="en-US" sz="800" dirty="0"/>
          </a:p>
        </p:txBody>
      </p:sp>
      <p:sp>
        <p:nvSpPr>
          <p:cNvPr id="96" name="Text 23"/>
          <p:cNvSpPr/>
          <p:nvPr/>
        </p:nvSpPr>
        <p:spPr>
          <a:xfrm>
            <a:off x="530809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카메라 특성에 맞게 엣지·선 검출 파라미터 재튜닝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CLAHE·Adaptive Threshold 재조정</a:t>
            </a:r>
            <a:endParaRPr lang="en-US" sz="800" dirty="0"/>
          </a:p>
        </p:txBody>
      </p:sp>
      <p:sp>
        <p:nvSpPr>
          <p:cNvPr id="97" name="Text 24"/>
          <p:cNvSpPr/>
          <p:nvPr/>
        </p:nvSpPr>
        <p:spPr>
          <a:xfrm>
            <a:off x="530809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YOLO는 자체 정규화가 있어 전처리 없는 원본 입력이 더 정확함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 enhanced_frame → frame</a:t>
            </a:r>
            <a:endParaRPr lang="en-US" sz="800" dirty="0"/>
          </a:p>
        </p:txBody>
      </p:sp>
      <p:sp>
        <p:nvSpPr>
          <p:cNvPr id="98" name="Shape 25"/>
          <p:cNvSpPr/>
          <p:nvPr/>
        </p:nvSpPr>
        <p:spPr>
          <a:xfrm>
            <a:off x="25146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26"/>
          <p:cNvSpPr/>
          <p:nvPr/>
        </p:nvSpPr>
        <p:spPr>
          <a:xfrm>
            <a:off x="251460" y="3360387"/>
            <a:ext cx="420624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27"/>
          <p:cNvSpPr/>
          <p:nvPr/>
        </p:nvSpPr>
        <p:spPr>
          <a:xfrm>
            <a:off x="34290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→ 횡단보도 오탐</a:t>
            </a:r>
            <a:endParaRPr lang="en-US" sz="950" dirty="0"/>
          </a:p>
        </p:txBody>
      </p:sp>
      <p:sp>
        <p:nvSpPr>
          <p:cNvPr id="101" name="Text 28"/>
          <p:cNvSpPr/>
          <p:nvPr/>
        </p:nvSpPr>
        <p:spPr>
          <a:xfrm>
            <a:off x="36118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02" name="Text 29"/>
          <p:cNvSpPr/>
          <p:nvPr/>
        </p:nvSpPr>
        <p:spPr>
          <a:xfrm>
            <a:off x="87325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 위 장애물(곰·공사중 모형 등)의 파편 컨투어가 균등 간격 조건을 통과하며 횡단보도로 오인식됨</a:t>
            </a:r>
            <a:endParaRPr lang="en-US" sz="800" dirty="0"/>
          </a:p>
        </p:txBody>
      </p:sp>
      <p:sp>
        <p:nvSpPr>
          <p:cNvPr id="103" name="Shape 30"/>
          <p:cNvSpPr/>
          <p:nvPr/>
        </p:nvSpPr>
        <p:spPr>
          <a:xfrm>
            <a:off x="36118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31"/>
          <p:cNvSpPr/>
          <p:nvPr/>
        </p:nvSpPr>
        <p:spPr>
          <a:xfrm>
            <a:off x="36118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05" name="Text 32"/>
          <p:cNvSpPr/>
          <p:nvPr/>
        </p:nvSpPr>
        <p:spPr>
          <a:xfrm>
            <a:off x="87325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공사중 표지판을 YOLO로 학습시켜 장애물 위치를 사전 파악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재학습 (mAP50=0.995)</a:t>
            </a:r>
            <a:endParaRPr lang="en-US" sz="800" dirty="0"/>
          </a:p>
        </p:txBody>
      </p:sp>
      <p:sp>
        <p:nvSpPr>
          <p:cNvPr id="106" name="Text 33"/>
          <p:cNvSpPr/>
          <p:nvPr/>
        </p:nvSpPr>
        <p:spPr>
          <a:xfrm>
            <a:off x="87325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장애물로 감지한 영역을 횡단보도 분석 전 미리 지워 오탐 차단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bbox → cw_top 마스킹</a:t>
            </a:r>
            <a:endParaRPr lang="en-US" sz="800" dirty="0"/>
          </a:p>
        </p:txBody>
      </p:sp>
      <p:sp>
        <p:nvSpPr>
          <p:cNvPr id="107" name="Text 34"/>
          <p:cNvSpPr/>
          <p:nvPr/>
        </p:nvSpPr>
        <p:spPr>
          <a:xfrm>
            <a:off x="873252" y="469541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간격 편차 기준을 더 엄격하게 적용해 불규칙 컨투어 걸러냄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gap_mean × 0.6</a:t>
            </a:r>
            <a:endParaRPr lang="en-US" sz="800" dirty="0"/>
          </a:p>
        </p:txBody>
      </p:sp>
      <p:sp>
        <p:nvSpPr>
          <p:cNvPr id="108" name="Shape 35"/>
          <p:cNvSpPr/>
          <p:nvPr/>
        </p:nvSpPr>
        <p:spPr>
          <a:xfrm>
            <a:off x="468630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36"/>
          <p:cNvSpPr/>
          <p:nvPr/>
        </p:nvSpPr>
        <p:spPr>
          <a:xfrm>
            <a:off x="4686300" y="3360387"/>
            <a:ext cx="42062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37"/>
          <p:cNvSpPr/>
          <p:nvPr/>
        </p:nvSpPr>
        <p:spPr>
          <a:xfrm>
            <a:off x="477774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중심 계산 오차 (원근 문제)</a:t>
            </a:r>
            <a:endParaRPr lang="en-US" sz="950" dirty="0"/>
          </a:p>
        </p:txBody>
      </p:sp>
      <p:sp>
        <p:nvSpPr>
          <p:cNvPr id="111" name="Text 38"/>
          <p:cNvSpPr/>
          <p:nvPr/>
        </p:nvSpPr>
        <p:spPr>
          <a:xfrm>
            <a:off x="479602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12" name="Text 39"/>
          <p:cNvSpPr/>
          <p:nvPr/>
        </p:nvSpPr>
        <p:spPr>
          <a:xfrm>
            <a:off x="530809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원근 효과로 좌우 차선 검출점의 y좌표가 달라 단순 x 비교 시 실제 중심과 어긋나는 오차 발생</a:t>
            </a:r>
            <a:endParaRPr lang="en-US" sz="800" dirty="0"/>
          </a:p>
        </p:txBody>
      </p:sp>
      <p:sp>
        <p:nvSpPr>
          <p:cNvPr id="113" name="Shape 40"/>
          <p:cNvSpPr/>
          <p:nvPr/>
        </p:nvSpPr>
        <p:spPr>
          <a:xfrm>
            <a:off x="479602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41"/>
          <p:cNvSpPr/>
          <p:nvPr/>
        </p:nvSpPr>
        <p:spPr>
          <a:xfrm>
            <a:off x="479602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15" name="Text 42"/>
          <p:cNvSpPr/>
          <p:nvPr/>
        </p:nvSpPr>
        <p:spPr>
          <a:xfrm>
            <a:off x="530809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높이에 있는 좌우 점끼리만 매칭해 같은 위치의 차선 너비를 계산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y차이 83px(≈10cm) 이내 쌍만 매칭</a:t>
            </a:r>
            <a:endParaRPr lang="en-US" sz="800" dirty="0"/>
          </a:p>
        </p:txBody>
      </p:sp>
      <p:sp>
        <p:nvSpPr>
          <p:cNvPr id="116" name="Text 43"/>
          <p:cNvSpPr/>
          <p:nvPr/>
        </p:nvSpPr>
        <p:spPr>
          <a:xfrm>
            <a:off x="530809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매칭되는 쌍이 없으면 기존 방식으로 폴백해 안정성 확보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폴백: max(left_xs) / min(right_xs)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트러블슈팅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숨기지 않고, 엔지니어링으로 해결한 과정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60020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0608" y="1645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232" y="20299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22128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155448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 인식률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184708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Gazebo에서 정상 동작하던 신호등 인식이 실제 조명 환경에서 60% 확률로 실패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12140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실제 카메라 노출 값과 실내 조명 간섭 문제 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3957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OpenCV 전처리 보강 + 다양한 조도 조건 추가 학습 → 인식률 95% 달성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33756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3383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100ms+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1232" y="37673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50608" y="3950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30ms↓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2918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모터 제어 지연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5844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ESP32 모터 제어 명령 전달 시 100ms 이상 지연 발생 → 주행 불안정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시리얼 통신 버퍼 오버플로우 및 ROS 2 타이머 주기 충돌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133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통신 프로토콜 최적화 + 타이머 주기 재조정 → 지연 30ms 이내로 감소</a:t>
            </a:r>
            <a:endParaRPr lang="en-US" sz="950" dirty="0"/>
          </a:p>
        </p:txBody>
      </p:sp>
      <p:sp>
        <p:nvSpPr>
          <p:cNvPr id="27" name="TextBox 26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결론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및 향후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성과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× YOLOv8 통합 자율주행 파이프라인 완성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시뮬레이션 → 실물 로봇 연속 동작 검증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29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인식-제어 루프 안정화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501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 / 장애물 감지 / 귀속차선 판별 통합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27432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계획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1808" y="18470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LiDAR </a:t>
            </a:r>
            <a:r>
              <a:rPr lang="en-US" altLang="ko-KR" sz="1000" dirty="0" err="1"/>
              <a:t>기반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인식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통합</a:t>
            </a:r>
            <a:r>
              <a:rPr lang="en-US" altLang="ko-KR" sz="1000" dirty="0"/>
              <a:t> — </a:t>
            </a:r>
            <a:r>
              <a:rPr lang="en-US" altLang="ko-KR" sz="1000" dirty="0" err="1"/>
              <a:t>카메라만으로는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한계인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거리·형태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정보를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보완해</a:t>
            </a:r>
            <a:r>
              <a:rPr lang="en-US" altLang="ko-KR" sz="1000" dirty="0"/>
              <a:t> 더 </a:t>
            </a:r>
            <a:r>
              <a:rPr lang="en-US" altLang="ko-KR" sz="1000" dirty="0" err="1"/>
              <a:t>정확한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감지</a:t>
            </a:r>
            <a:endParaRPr lang="en-US" altLang="ko-KR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1808" y="2560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SLAM </a:t>
            </a:r>
            <a:r>
              <a:rPr lang="ko-KR" altLang="en-US" sz="1000" dirty="0" smtClean="0"/>
              <a:t>연동</a:t>
            </a:r>
            <a:r>
              <a:rPr lang="en-US" altLang="ko-KR" sz="1000" dirty="0" smtClean="0"/>
              <a:t>- </a:t>
            </a:r>
            <a:r>
              <a:rPr lang="ko-KR" altLang="en-US" sz="1000" dirty="0"/>
              <a:t>실시간 지도 생성과 위치 추정으로 동적 경로 </a:t>
            </a:r>
            <a:r>
              <a:rPr lang="ko-KR" altLang="en-US" sz="1000" dirty="0" err="1"/>
              <a:t>재계획</a:t>
            </a:r>
            <a:r>
              <a:rPr lang="ko-KR" altLang="en-US" sz="1000" dirty="0"/>
              <a:t>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9544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32735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강화학습 기반 주행 </a:t>
            </a:r>
            <a:r>
              <a:rPr lang="en-US" sz="1000" dirty="0" err="1"/>
              <a:t>정책으로</a:t>
            </a:r>
            <a:r>
              <a:rPr lang="en-US" sz="1000" dirty="0"/>
              <a:t> FSM </a:t>
            </a:r>
            <a:r>
              <a:rPr lang="ko-KR" altLang="en-US" sz="1000" dirty="0"/>
              <a:t>고도화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 |  인지와 제어가 통합된 지능형 자율주행 플랫폼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1547</Words>
  <Application>Microsoft Office PowerPoint</Application>
  <PresentationFormat>화면 슬라이드 쇼(16:9)</PresentationFormat>
  <Paragraphs>316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12</cp:revision>
  <dcterms:created xsi:type="dcterms:W3CDTF">2026-06-08T06:11:46Z</dcterms:created>
  <dcterms:modified xsi:type="dcterms:W3CDTF">2026-06-08T08:20:39Z</dcterms:modified>
</cp:coreProperties>
</file>