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5" r:id="rId9"/>
    <p:sldId id="266" r:id="rId10"/>
    <p:sldId id="275" r:id="rId11"/>
    <p:sldId id="276" r:id="rId12"/>
    <p:sldId id="277" r:id="rId13"/>
    <p:sldId id="269" r:id="rId14"/>
    <p:sldId id="270" r:id="rId15"/>
    <p:sldId id="279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4" autoAdjust="0"/>
    <p:restoredTop sz="86753" autoAdjust="0"/>
  </p:normalViewPr>
  <p:slideViewPr>
    <p:cSldViewPr snapToGrid="0" snapToObjects="1">
      <p:cViewPr varScale="1">
        <p:scale>
          <a:sx n="97" d="100"/>
          <a:sy n="97" d="100"/>
        </p:scale>
        <p:origin x="90" y="486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9" d="100"/>
          <a:sy n="69" d="100"/>
        </p:scale>
        <p:origin x="225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578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Edge Layer (</a:t>
            </a:r>
            <a:r>
              <a:rPr lang="ko-KR" altLang="en-US" b="1" dirty="0" err="1"/>
              <a:t>라즈베리파이</a:t>
            </a:r>
            <a:r>
              <a:rPr lang="en-US" altLang="ko-KR" b="1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— </a:t>
            </a:r>
            <a:r>
              <a:rPr lang="ko-KR" altLang="en-US" dirty="0"/>
              <a:t>시스템의 두뇌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Serial Bridge Node: </a:t>
            </a:r>
            <a:r>
              <a:rPr lang="ko-KR" altLang="en-US" dirty="0"/>
              <a:t>하드웨어 데이터를 </a:t>
            </a:r>
            <a:r>
              <a:rPr lang="en-US" altLang="ko-KR" dirty="0"/>
              <a:t>ROS 2</a:t>
            </a:r>
            <a:r>
              <a:rPr lang="ko-KR" altLang="en-US" dirty="0"/>
              <a:t>로 변환하는 관문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AI Inference Node: YOLOv8 </a:t>
            </a:r>
            <a:r>
              <a:rPr lang="ko-KR" altLang="en-US" dirty="0"/>
              <a:t>실행</a:t>
            </a:r>
            <a:r>
              <a:rPr lang="en-US" altLang="ko-KR" dirty="0"/>
              <a:t>, </a:t>
            </a:r>
            <a:r>
              <a:rPr lang="ko-KR" altLang="en-US" dirty="0"/>
              <a:t>객체 인식 결과 발행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Control Node (FSM): </a:t>
            </a:r>
            <a:r>
              <a:rPr lang="ko-KR" altLang="en-US" dirty="0"/>
              <a:t>모든 정보를 받아 주행 판단 내리는 핵심 노드</a:t>
            </a:r>
          </a:p>
          <a:p>
            <a:r>
              <a:rPr lang="en-US" altLang="ko-KR" b="1" dirty="0"/>
              <a:t>ESP32</a:t>
            </a:r>
            <a:r>
              <a:rPr lang="ko-KR" altLang="en-US" dirty="0"/>
              <a:t> </a:t>
            </a:r>
            <a:r>
              <a:rPr lang="en-US" altLang="ko-KR" dirty="0"/>
              <a:t>— </a:t>
            </a:r>
            <a:r>
              <a:rPr lang="ko-KR" altLang="en-US" dirty="0"/>
              <a:t>물리 인터페이스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Sensor Node → UART → Serial Bridge: "ROS 2 </a:t>
            </a:r>
            <a:r>
              <a:rPr lang="ko-KR" altLang="en-US" dirty="0"/>
              <a:t>밖의 유일한 통신 구간</a:t>
            </a:r>
            <a:r>
              <a:rPr lang="en-US" altLang="ko-KR" dirty="0"/>
              <a:t>"</a:t>
            </a:r>
          </a:p>
          <a:p>
            <a:r>
              <a:rPr lang="en-US" altLang="ko-KR" b="1" dirty="0"/>
              <a:t>Simulation Layer</a:t>
            </a:r>
            <a:r>
              <a:rPr lang="ko-KR" altLang="en-US" dirty="0"/>
              <a:t> </a:t>
            </a:r>
            <a:r>
              <a:rPr lang="en-US" altLang="ko-KR" dirty="0"/>
              <a:t>— </a:t>
            </a:r>
            <a:r>
              <a:rPr lang="ko-KR" altLang="en-US" dirty="0"/>
              <a:t>검증 환경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dirty="0"/>
              <a:t>실물과 동일한 </a:t>
            </a:r>
            <a:r>
              <a:rPr lang="en-US" altLang="ko-KR" dirty="0"/>
              <a:t>/</a:t>
            </a:r>
            <a:r>
              <a:rPr lang="en-US" altLang="ko-KR" dirty="0" err="1"/>
              <a:t>odom</a:t>
            </a:r>
            <a:r>
              <a:rPr lang="en-US" altLang="ko-KR" dirty="0"/>
              <a:t>, /</a:t>
            </a:r>
            <a:r>
              <a:rPr lang="en-US" altLang="ko-KR" dirty="0" err="1"/>
              <a:t>cmd_vel</a:t>
            </a:r>
            <a:r>
              <a:rPr lang="en-US" altLang="ko-KR" dirty="0"/>
              <a:t> </a:t>
            </a:r>
            <a:r>
              <a:rPr lang="ko-KR" altLang="en-US" dirty="0"/>
              <a:t>토픽 사용 → </a:t>
            </a:r>
            <a:r>
              <a:rPr lang="en-US" altLang="ko-KR" dirty="0"/>
              <a:t>"</a:t>
            </a:r>
            <a:r>
              <a:rPr lang="ko-KR" altLang="en-US" dirty="0"/>
              <a:t>코드 수정 없이 실물 전환 가능</a:t>
            </a:r>
            <a:r>
              <a:rPr lang="en-US" altLang="ko-KR" dirty="0"/>
              <a:t>"</a:t>
            </a:r>
          </a:p>
          <a:p>
            <a:r>
              <a:rPr lang="en-US" altLang="ko-KR" b="1" dirty="0"/>
              <a:t>Management Layer</a:t>
            </a:r>
            <a:r>
              <a:rPr lang="ko-KR" altLang="en-US" dirty="0"/>
              <a:t> </a:t>
            </a:r>
            <a:r>
              <a:rPr lang="en-US" altLang="ko-KR" dirty="0"/>
              <a:t>— </a:t>
            </a:r>
            <a:r>
              <a:rPr lang="ko-KR" altLang="en-US" dirty="0"/>
              <a:t>모니터링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dirty="0"/>
              <a:t>Dashboard Node: C</a:t>
            </a:r>
            <a:r>
              <a:rPr lang="ko-KR" altLang="en-US" dirty="0"/>
              <a:t>님이 직접 개발</a:t>
            </a:r>
            <a:r>
              <a:rPr lang="en-US" altLang="ko-KR" dirty="0"/>
              <a:t>, </a:t>
            </a:r>
            <a:r>
              <a:rPr lang="ko-KR" altLang="en-US" dirty="0"/>
              <a:t>영상 녹화 </a:t>
            </a:r>
            <a:r>
              <a:rPr lang="en-US" altLang="ko-KR" dirty="0"/>
              <a:t>+ </a:t>
            </a:r>
            <a:r>
              <a:rPr lang="ko-KR" altLang="en-US" dirty="0"/>
              <a:t>실시간 상태 확인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62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24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27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14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44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94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연동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로봇 플랫폼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시스템 구축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프로젝트  |  ROS 2 Jazzy  ×  YOLOv8  |  10일 스프린트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54864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제시 · 목표 · 팀 역할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19472" y="15727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진행 과정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9933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10일 타임라인 · 시스템 설계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개인별 모듈 구현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 역할별 상세 내용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1148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54864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19472" y="312724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 &amp; 성과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478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· 결과 · 향후 계획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배경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자율주행 시스템의 한계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[!]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34389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장애물 대응 불가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34388" y="194767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경로 계획만으로는 갑작스럽게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등장하는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장애물에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대응하기 어려움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57" y="164592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74018" y="164592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"단순 거리 센서만으로는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동적 환경에 대응 불가"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4745" y="276148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[신호]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34389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 법규 인식 부재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34388" y="2999232"/>
            <a:ext cx="265282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신호등·표지판 등 교통 규칙을 인지하고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연결하는 파이프라인 미비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57" y="269748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74018" y="269748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"신호등 상태를 무시하고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→ 충돌 위험"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64745" y="38130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[연결]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34389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인지-제어 통합 부재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34389" y="4050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인식 결과가 실제 로봇 제어로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이어지는 통합 아키텍처가 없음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57" y="3749040"/>
            <a:ext cx="18288" cy="5943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74018" y="3749040"/>
            <a:ext cx="3821341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"YOLO가 인식해도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멈추지 않음"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목표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인지(AI)와 제어(ROS 2)가 통합된 지능형 자율주행 플랫폼 구축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기반 실시간 인식  ×  ROS 2 Jazzy 제어  →  통합 자율주행 파이프라인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96596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차선 인식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영상에서 실시간 차선 검출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주행 경로 생성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14600" y="2331720"/>
            <a:ext cx="19659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060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객체 인식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YOLOv8로 장애물·신호등 실시간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감지 및 분류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19659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행동 제어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결과→모터 제어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변환 파이프라인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331720"/>
            <a:ext cx="19659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12280" y="2331720"/>
            <a:ext cx="19659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9037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통합 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036664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</a:t>
            </a: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</a:p>
          <a:p>
            <a:pPr marL="0" indent="0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로봇</a:t>
            </a:r>
            <a:endParaRPr lang="en-US" sz="1050" dirty="0"/>
          </a:p>
          <a:p>
            <a:pPr marL="0" indent="0">
              <a:buNone/>
            </a:pPr>
            <a:endParaRPr lang="en-US" sz="1050" dirty="0">
              <a:solidFill>
                <a:srgbClr val="4A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</a:t>
            </a: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동작 검증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팀 구성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역할 및 R&amp;R 재편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4명 → 3명 재편 후 전문화된 역할 분담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4일차: HW 모터 제어 지연 이슈 발생 → R&amp;R 재정립, 팀 4명 → 3명 재편 (5일차부터 적용)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Infra &amp; 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시리얼 통신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확보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227832" y="1965960"/>
            <a:ext cx="2697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319272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Control &amp; FSM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2761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 자율주행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9904" y="1965960"/>
            <a:ext cx="269748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089904" y="196596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181344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/  Perception &amp;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 영역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2790583"/>
            <a:ext cx="2468880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 처리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차선·객체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인식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노드</a:t>
            </a:r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PC </a:t>
            </a:r>
            <a:r>
              <a:rPr lang="ko-KR" alt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3474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목표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99632" y="367588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정확도 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품질 확보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시스템 아키텍처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기반 4-Layer 구조: Edge · ESP32 · Simulation · Management: </a:t>
            </a:r>
            <a:r>
              <a:rPr lang="en-US" altLang="ko-KR" sz="1200" dirty="0"/>
              <a:t>4</a:t>
            </a:r>
            <a:r>
              <a:rPr lang="ko-KR" altLang="en-US" sz="1200" dirty="0"/>
              <a:t>개 레이어가 </a:t>
            </a:r>
            <a:r>
              <a:rPr lang="en-US" altLang="ko-KR" sz="1200" dirty="0"/>
              <a:t>ROS 2 </a:t>
            </a:r>
            <a:r>
              <a:rPr lang="ko-KR" altLang="en-US" sz="1200" dirty="0"/>
              <a:t>토픽으로 연결된 분산 구조</a:t>
            </a:r>
            <a:endParaRPr lang="en-US" sz="1200" dirty="0"/>
          </a:p>
        </p:txBody>
      </p:sp>
      <p:grpSp>
        <p:nvGrpSpPr>
          <p:cNvPr id="9" name="그룹 8"/>
          <p:cNvGrpSpPr/>
          <p:nvPr/>
        </p:nvGrpSpPr>
        <p:grpSpPr>
          <a:xfrm>
            <a:off x="365760" y="1298448"/>
            <a:ext cx="8412480" cy="3775475"/>
            <a:chOff x="365760" y="1298448"/>
            <a:chExt cx="8412480" cy="3775475"/>
          </a:xfrm>
        </p:grpSpPr>
        <p:sp>
          <p:nvSpPr>
            <p:cNvPr id="6" name="Shape 4"/>
            <p:cNvSpPr/>
            <p:nvPr/>
          </p:nvSpPr>
          <p:spPr>
            <a:xfrm>
              <a:off x="365760" y="1298448"/>
              <a:ext cx="8412480" cy="27432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66" name="Picture 2" descr="https://cdn-0.plantuml.com/plantuml/png/RLB1YXD14BtFLnJhmHamH28ULaHsakngO5UNp7eI2PNfIXntfZjqTroY28Ah8Bcig3TTzY3w0IhemI-Qv1_icMcJ7aqVqgbwxrMzgfuTfL7gQPPwwZZX4vIO0HUQu9a7vhGnFXvBCUMi8r8XuTAUETlR5IOa8sdptJ2ythhgFVUyYP7Wc61hDpgyrWB_3afsWfAWnpN94SOKRDdg3oBYogZl2aOF0HLKSH7MAp7pkuypak3tKKs69EKC3XDeGFzUr2hrogqg4qoXBHEZMnMtSH5MjB1dB8r84eyTLjXRCpg2QodI4WH_Bpe8IefD_sSpIh9fYZeHl3AxCdGRdz9GWCM5BAjKoLg10-JcpeZhVmfqKJqQ2fHixRD8_NLm6V9NF_Dt7_Dlfv3Fl-VpNulpCyY_Vbv-U0j-WPs_MBny4tZbosen0J5oTWqtO9UF8NHXPriRuR3dG1tmzmaPoMROgpLnLsMvRHUtIx1GruNiW1jw541WXgxUVldwOld-jxb-BEONiFnqbdyvzPpP6erRzLdwU69dDoqqWdy_x1y5diCf97NZJLKA1gmK78b94WUUNS46DYDDiIOs4CF7vezQILoUqTNVe1bdRF24qXNRBkVcXWw2YUoAet0-lMZ6DtHojjcKOYZqG6dKqxMr7U9icgL_000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6485" y="1490472"/>
              <a:ext cx="6194528" cy="3583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3019" y="1497490"/>
              <a:ext cx="477838" cy="249014"/>
            </a:xfrm>
            <a:prstGeom prst="rect">
              <a:avLst/>
            </a:prstGeom>
          </p:spPr>
        </p:pic>
      </p:grpSp>
      <p:sp>
        <p:nvSpPr>
          <p:cNvPr id="10" name="직사각형 9"/>
          <p:cNvSpPr/>
          <p:nvPr/>
        </p:nvSpPr>
        <p:spPr>
          <a:xfrm>
            <a:off x="3719514" y="3298031"/>
            <a:ext cx="64294" cy="130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979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아키텍처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노드 구성도 &amp; 데이터 흐름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yolo_detector → fsm_node → control_node → bridge_node → ESP32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7"/>
          <p:cNvSpPr/>
          <p:nvPr/>
        </p:nvSpPr>
        <p:spPr>
          <a:xfrm>
            <a:off x="274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8"/>
          <p:cNvSpPr/>
          <p:nvPr/>
        </p:nvSpPr>
        <p:spPr>
          <a:xfrm>
            <a:off x="274000" y="2150000"/>
            <a:ext cx="13160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9"/>
          <p:cNvSpPr/>
          <p:nvPr/>
        </p:nvSpPr>
        <p:spPr>
          <a:xfrm>
            <a:off x="274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camera_node</a:t>
            </a:r>
            <a:endParaRPr lang="en-US" sz="950" dirty="0"/>
          </a:p>
        </p:txBody>
      </p:sp>
      <p:sp>
        <p:nvSpPr>
          <p:cNvPr id="10" name="Text 10"/>
          <p:cNvSpPr/>
          <p:nvPr/>
        </p:nvSpPr>
        <p:spPr>
          <a:xfrm>
            <a:off x="274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USB Cam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15Hz · 압축</a:t>
            </a:r>
            <a:endParaRPr lang="ko-KR" sz="850" dirty="0"/>
          </a:p>
        </p:txBody>
      </p:sp>
      <p:sp>
        <p:nvSpPr>
          <p:cNvPr id="11" name="Shape 11"/>
          <p:cNvSpPr/>
          <p:nvPr/>
        </p:nvSpPr>
        <p:spPr>
          <a:xfrm>
            <a:off x="1730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2"/>
          <p:cNvSpPr/>
          <p:nvPr/>
        </p:nvSpPr>
        <p:spPr>
          <a:xfrm>
            <a:off x="1730000" y="2150000"/>
            <a:ext cx="13160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3"/>
          <p:cNvSpPr/>
          <p:nvPr/>
        </p:nvSpPr>
        <p:spPr>
          <a:xfrm>
            <a:off x="1730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yolo_detector</a:t>
            </a:r>
            <a:endParaRPr lang="en-US" sz="950" dirty="0"/>
          </a:p>
        </p:txBody>
      </p:sp>
      <p:sp>
        <p:nvSpPr>
          <p:cNvPr id="14" name="Text 14"/>
          <p:cNvSpPr/>
          <p:nvPr/>
        </p:nvSpPr>
        <p:spPr>
          <a:xfrm>
            <a:off x="1730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YOLOv8 + 차선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인식 통합 10Hz</a:t>
            </a:r>
            <a:endParaRPr lang="ko-KR" sz="850" dirty="0"/>
          </a:p>
        </p:txBody>
      </p:sp>
      <p:sp>
        <p:nvSpPr>
          <p:cNvPr id="15" name="Shape 15"/>
          <p:cNvSpPr/>
          <p:nvPr/>
        </p:nvSpPr>
        <p:spPr>
          <a:xfrm>
            <a:off x="3186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6"/>
          <p:cNvSpPr/>
          <p:nvPr/>
        </p:nvSpPr>
        <p:spPr>
          <a:xfrm>
            <a:off x="3186000" y="2150000"/>
            <a:ext cx="1316000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7"/>
          <p:cNvSpPr/>
          <p:nvPr/>
        </p:nvSpPr>
        <p:spPr>
          <a:xfrm>
            <a:off x="3186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fsm_node</a:t>
            </a:r>
            <a:endParaRPr lang="en-US" sz="950" dirty="0"/>
          </a:p>
        </p:txBody>
      </p:sp>
      <p:sp>
        <p:nvSpPr>
          <p:cNvPr id="18" name="Text 18"/>
          <p:cNvSpPr/>
          <p:nvPr/>
        </p:nvSpPr>
        <p:spPr>
          <a:xfrm>
            <a:off x="3186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 상태머신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주행 판단 20Hz</a:t>
            </a:r>
            <a:endParaRPr lang="ko-KR" sz="850" dirty="0"/>
          </a:p>
        </p:txBody>
      </p:sp>
      <p:sp>
        <p:nvSpPr>
          <p:cNvPr id="19" name="Shape 19"/>
          <p:cNvSpPr/>
          <p:nvPr/>
        </p:nvSpPr>
        <p:spPr>
          <a:xfrm>
            <a:off x="4642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20"/>
          <p:cNvSpPr/>
          <p:nvPr/>
        </p:nvSpPr>
        <p:spPr>
          <a:xfrm>
            <a:off x="4642000" y="2150000"/>
            <a:ext cx="1316000" cy="2926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1"/>
          <p:cNvSpPr/>
          <p:nvPr/>
        </p:nvSpPr>
        <p:spPr>
          <a:xfrm>
            <a:off x="4642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control_node</a:t>
            </a:r>
            <a:endParaRPr lang="en-US" sz="950" dirty="0"/>
          </a:p>
        </p:txBody>
      </p:sp>
      <p:sp>
        <p:nvSpPr>
          <p:cNvPr id="22" name="Text 22"/>
          <p:cNvSpPr/>
          <p:nvPr/>
        </p:nvSpPr>
        <p:spPr>
          <a:xfrm>
            <a:off x="4642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명령 → Twist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20Hz 변환</a:t>
            </a:r>
            <a:endParaRPr lang="ko-KR" sz="850" dirty="0"/>
          </a:p>
        </p:txBody>
      </p:sp>
      <p:sp>
        <p:nvSpPr>
          <p:cNvPr id="23" name="Shape 23"/>
          <p:cNvSpPr/>
          <p:nvPr/>
        </p:nvSpPr>
        <p:spPr>
          <a:xfrm>
            <a:off x="6098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4"/>
          <p:cNvSpPr/>
          <p:nvPr/>
        </p:nvSpPr>
        <p:spPr>
          <a:xfrm>
            <a:off x="6098000" y="2150000"/>
            <a:ext cx="13160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5"/>
          <p:cNvSpPr/>
          <p:nvPr/>
        </p:nvSpPr>
        <p:spPr>
          <a:xfrm>
            <a:off x="6098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bridge_node</a:t>
            </a:r>
            <a:endParaRPr lang="en-US" sz="950" dirty="0"/>
          </a:p>
        </p:txBody>
      </p:sp>
      <p:sp>
        <p:nvSpPr>
          <p:cNvPr id="26" name="Text 26"/>
          <p:cNvSpPr/>
          <p:nvPr/>
        </p:nvSpPr>
        <p:spPr>
          <a:xfrm>
            <a:off x="6098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역기구학 변환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UART 10Hz</a:t>
            </a:r>
            <a:endParaRPr lang="ko-KR" sz="850" dirty="0"/>
          </a:p>
        </p:txBody>
      </p:sp>
      <p:sp>
        <p:nvSpPr>
          <p:cNvPr id="27" name="Shape 27"/>
          <p:cNvSpPr/>
          <p:nvPr/>
        </p:nvSpPr>
        <p:spPr>
          <a:xfrm>
            <a:off x="7554000" y="2150000"/>
            <a:ext cx="1316000" cy="9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8"/>
          <p:cNvSpPr/>
          <p:nvPr/>
        </p:nvSpPr>
        <p:spPr>
          <a:xfrm>
            <a:off x="7554000" y="2150000"/>
            <a:ext cx="1316000" cy="2926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9"/>
          <p:cNvSpPr/>
          <p:nvPr/>
        </p:nvSpPr>
        <p:spPr>
          <a:xfrm>
            <a:off x="7554000" y="2150000"/>
            <a:ext cx="131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9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ESP32 (HW)</a:t>
            </a:r>
            <a:endParaRPr lang="en-US" sz="950" dirty="0"/>
          </a:p>
        </p:txBody>
      </p:sp>
      <p:sp>
        <p:nvSpPr>
          <p:cNvPr id="30" name="Text 30"/>
          <p:cNvSpPr/>
          <p:nvPr/>
        </p:nvSpPr>
        <p:spPr>
          <a:xfrm>
            <a:off x="7554000" y="2479184"/>
            <a:ext cx="1316000" cy="570816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PWM 모터 구동</a:t>
            </a:r>
            <a:endParaRPr lang="ko-KR" sz="850" dirty="0"/>
          </a:p>
          <a:p>
            <a:pPr marL="0" indent="0" algn="ctr">
              <a:buNone/>
            </a:pPr>
            <a:r>
              <a:rPr lang="ko-KR" altLang="en-US" sz="8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워치독 500ms</a:t>
            </a:r>
            <a:endParaRPr lang="ko-KR" sz="850" dirty="0"/>
          </a:p>
        </p:txBody>
      </p:sp>
      <p:sp>
        <p:nvSpPr>
          <p:cNvPr id="31" name="Arrow 31"/>
          <p:cNvSpPr/>
          <p:nvPr/>
        </p:nvSpPr>
        <p:spPr>
          <a:xfrm>
            <a:off x="1590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Arrow 32"/>
          <p:cNvSpPr/>
          <p:nvPr/>
        </p:nvSpPr>
        <p:spPr>
          <a:xfrm>
            <a:off x="3046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Arrow 33"/>
          <p:cNvSpPr/>
          <p:nvPr/>
        </p:nvSpPr>
        <p:spPr>
          <a:xfrm>
            <a:off x="4502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Arrow 34"/>
          <p:cNvSpPr/>
          <p:nvPr/>
        </p:nvSpPr>
        <p:spPr>
          <a:xfrm>
            <a:off x="5958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Arrow 35"/>
          <p:cNvSpPr/>
          <p:nvPr/>
        </p:nvSpPr>
        <p:spPr>
          <a:xfrm>
            <a:off x="7414000" y="2600000"/>
            <a:ext cx="140000" cy="0"/>
          </a:xfrm>
          <a:prstGeom prst="line">
            <a:avLst/>
          </a:prstGeom>
          <a:noFill/>
          <a:ln w="19050" cap="rnd">
            <a:solidFill>
              <a:srgbClr val="00A896"/>
            </a:solidFill>
            <a:prstDash val="solid"/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Label 36"/>
          <p:cNvSpPr/>
          <p:nvPr/>
        </p:nvSpPr>
        <p:spPr>
          <a:xfrm>
            <a:off x="1010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/camera/image_raw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(Compressed)</a:t>
            </a:r>
            <a:endParaRPr lang="en-US" sz="750" dirty="0"/>
          </a:p>
        </p:txBody>
      </p:sp>
      <p:sp>
        <p:nvSpPr>
          <p:cNvPr id="37" name="Label 37"/>
          <p:cNvSpPr/>
          <p:nvPr/>
        </p:nvSpPr>
        <p:spPr>
          <a:xfrm>
            <a:off x="2466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/robot_perception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(JSON)</a:t>
            </a:r>
            <a:endParaRPr lang="en-US" sz="750" dirty="0"/>
          </a:p>
        </p:txBody>
      </p:sp>
      <p:sp>
        <p:nvSpPr>
          <p:cNvPr id="38" name="Label 38"/>
          <p:cNvSpPr/>
          <p:nvPr/>
        </p:nvSpPr>
        <p:spPr>
          <a:xfrm>
            <a:off x="3922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/fsm_cmd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(JSON)</a:t>
            </a:r>
            <a:endParaRPr lang="en-US" sz="750" dirty="0"/>
          </a:p>
        </p:txBody>
      </p:sp>
      <p:sp>
        <p:nvSpPr>
          <p:cNvPr id="39" name="Label 39"/>
          <p:cNvSpPr/>
          <p:nvPr/>
        </p:nvSpPr>
        <p:spPr>
          <a:xfrm>
            <a:off x="5378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/cmd_vel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(Twist)</a:t>
            </a:r>
            <a:endParaRPr lang="en-US" sz="750" dirty="0"/>
          </a:p>
        </p:txBody>
      </p:sp>
      <p:sp>
        <p:nvSpPr>
          <p:cNvPr id="40" name="Label 40"/>
          <p:cNvSpPr/>
          <p:nvPr/>
        </p:nvSpPr>
        <p:spPr>
          <a:xfrm>
            <a:off x="6834000" y="17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altLang="ko-KR" sz="800" b="1" dirty="0">
                <a:solidFill>
                  <a:srgbClr val="00857A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UART</a:t>
            </a:r>
            <a:endParaRPr lang="en-US" sz="800" dirty="0"/>
          </a:p>
          <a:p>
            <a:pPr marL="0" indent="0" algn="ctr">
              <a:buNone/>
            </a:pPr>
            <a:r>
              <a:rPr lang="en-US" altLang="ko-KR" sz="750" dirty="0">
                <a:solidFill>
                  <a:srgbClr val="94A3B8"/>
                </a:solidFill>
                <a:latin typeface="Consolas" pitchFamily="34" charset="0"/>
                <a:ea typeface="맑은 고딕" pitchFamily="34" charset="-122"/>
                <a:cs typeface="Consolas" pitchFamily="34" charset="-120"/>
              </a:rPr>
              <a:t>(ESP32 JSON)</a:t>
            </a:r>
            <a:endParaRPr lang="en-US" sz="750" dirty="0"/>
          </a:p>
        </p:txBody>
      </p:sp>
      <p:sp>
        <p:nvSpPr>
          <p:cNvPr id="91" name="Shape 34"/>
          <p:cNvSpPr/>
          <p:nvPr/>
        </p:nvSpPr>
        <p:spPr>
          <a:xfrm>
            <a:off x="320040" y="3886200"/>
            <a:ext cx="850392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35"/>
          <p:cNvSpPr/>
          <p:nvPr/>
        </p:nvSpPr>
        <p:spPr>
          <a:xfrm>
            <a:off x="502920" y="3950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근거</a:t>
            </a:r>
            <a:endParaRPr lang="en-US" sz="900" dirty="0"/>
          </a:p>
        </p:txBody>
      </p:sp>
      <p:sp>
        <p:nvSpPr>
          <p:cNvPr id="93" name="Text 36"/>
          <p:cNvSpPr/>
          <p:nvPr/>
        </p:nvSpPr>
        <p:spPr>
          <a:xfrm>
            <a:off x="50292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인식 10Hz · 제어 20Hz 발행 : 실시간성 확보  |  /robot_perception 단일 JSON 통합 : 신호등·표지판·장애물·차선을 한 메시지로 전달해 파싱 단순화  |  노드 분리(인지·판단·제어·HW 브리지) → 장애 격리 + 독립 개발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873368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21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Infra &amp; Bridge  ①</a:t>
            </a:r>
            <a:endParaRPr lang="en-US" sz="2600" dirty="0"/>
          </a:p>
        </p:txBody>
      </p:sp>
      <p:sp>
        <p:nvSpPr>
          <p:cNvPr id="22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펌웨어 · 센서 데이터 수신 · 시리얼 통신</a:t>
            </a:r>
            <a:endParaRPr lang="en-US" sz="1200" dirty="0"/>
          </a:p>
        </p:txBody>
      </p:sp>
      <p:sp>
        <p:nvSpPr>
          <p:cNvPr id="23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27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altLang="ko-KR" sz="1050" dirty="0"/>
              <a:t>Docker </a:t>
            </a:r>
            <a:r>
              <a:rPr lang="ko-KR" altLang="en-US" sz="1050" dirty="0"/>
              <a:t>인프라</a:t>
            </a:r>
            <a:endParaRPr lang="en-US" sz="1050" dirty="0"/>
          </a:p>
        </p:txBody>
      </p:sp>
      <p:sp>
        <p:nvSpPr>
          <p:cNvPr id="28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수신 처리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라즈베리파이 ↔ ESP32 시리얼 통신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안정적인 실물 센서 데이터 확보</a:t>
            </a:r>
            <a:endParaRPr lang="en-US" sz="1050" dirty="0"/>
          </a:p>
        </p:txBody>
      </p:sp>
      <p:sp>
        <p:nvSpPr>
          <p:cNvPr id="31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2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공용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인프라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노드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구성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팀 공용 베이스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Docker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이미지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(arm64 smart-road-pi4)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설계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빌드 및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Docker Hub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배포 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호스트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↔컨테이너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GUI(X11)·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네트워크 통신 </a:t>
            </a:r>
            <a:r>
              <a:rPr lang="ko-KR" alt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인프라</a:t>
            </a:r>
            <a:endParaRPr lang="en-US" altLang="ko-KR" sz="11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CycloneDDS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(ROS_DOMAIN_ID=42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셋업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노드 일괄 구동용 통합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launch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 구조 설계 및 공용 워크스페이스 뼈대 배포</a:t>
            </a:r>
          </a:p>
        </p:txBody>
      </p:sp>
      <p:sp>
        <p:nvSpPr>
          <p:cNvPr id="33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4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ESP32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시리얼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브릿지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센서 통합</a:t>
            </a:r>
          </a:p>
          <a:p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RPi4 ↔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Waveshare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ESP32-WROOM-32 UART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통신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cmd_vel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모터 명령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엔코더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피드백 수신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패킷 규격 정의 및 송수신 라인 안정화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LD19 LiDAR(/dev/ttyUSB0, 230400 baud, </a:t>
            </a: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6Hz) </a:t>
            </a:r>
            <a:b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11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USB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카메라 디바이스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패스스루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및 토픽 스트리밍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카메라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BEST_EFFORT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QoS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대응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qos_profile_sensor_data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—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구독자 데이터 유실 방지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Text 11"/>
          <p:cNvSpPr/>
          <p:nvPr/>
        </p:nvSpPr>
        <p:spPr>
          <a:xfrm>
            <a:off x="502920" y="40050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ko-KR" altLang="en-US" sz="10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라이다 동적 장애물 탐지 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A님 모듈</a:t>
            </a:r>
            <a:endParaRPr lang="en-US" sz="800" dirty="0"/>
          </a:p>
        </p:txBody>
      </p:sp>
      <p:sp>
        <p:nvSpPr>
          <p:cNvPr id="29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 </a:t>
            </a:r>
            <a:r>
              <a:rPr lang="en-US" sz="260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Bridge </a:t>
            </a:r>
            <a:r>
              <a:rPr lang="en-US" sz="2600" b="1" dirty="0" smtClean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LiDAR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30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31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Text 6"/>
          <p:cNvSpPr/>
          <p:nvPr/>
        </p:nvSpPr>
        <p:spPr>
          <a:xfrm>
            <a:off x="3051199" y="1463040"/>
            <a:ext cx="572704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Shape 7"/>
          <p:cNvSpPr/>
          <p:nvPr/>
        </p:nvSpPr>
        <p:spPr>
          <a:xfrm>
            <a:off x="365760" y="3611880"/>
            <a:ext cx="4559166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5" name="Text 8"/>
          <p:cNvSpPr/>
          <p:nvPr/>
        </p:nvSpPr>
        <p:spPr>
          <a:xfrm>
            <a:off x="365760" y="3611880"/>
            <a:ext cx="455916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장애물 분류 모듈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obstacle_checker.py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15cm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그리드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streak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카운터 기반 정적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장애물 실시간 분류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ObstacleResult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(obstacle, dynamic, count, valid)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출력 →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FSM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분기에 전달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TF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체인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odom→base_link→base_laser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+ AMCL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map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좌표 점 이동 추적으로  차량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이동분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상쇄 후 동적 판정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실측 검증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박스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정적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움직이는 장애물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동적 정상 분류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Shape 9"/>
          <p:cNvSpPr/>
          <p:nvPr/>
        </p:nvSpPr>
        <p:spPr>
          <a:xfrm>
            <a:off x="5045242" y="3611880"/>
            <a:ext cx="3732998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7" name="Text 10"/>
          <p:cNvSpPr/>
          <p:nvPr/>
        </p:nvSpPr>
        <p:spPr>
          <a:xfrm>
            <a:off x="5045242" y="3611880"/>
            <a:ext cx="373299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sliding-window(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deque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방식은 느린 장애물을 정적으로 흡수 →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streak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카운터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셀 비면 즉시 리셋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 교체해 해결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TF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부재 시 안전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폴백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base_laser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프레임 직접 계산으로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obstacle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유지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(dynamic=False, valid=False)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다중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rosbridge_websocket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프로세스가 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~2.68GB RAM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점유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</a:t>
            </a:r>
            <a:r>
              <a:rPr lang="ko-KR" alt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프리징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→ 테스트 전 </a:t>
            </a:r>
            <a:r>
              <a:rPr lang="en-US" altLang="ko-KR" sz="11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pkill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처리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8" name="ezgif-8f6f5e2fc36ac03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45920" y="1463040"/>
            <a:ext cx="2045359" cy="2019468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242" y="1490472"/>
            <a:ext cx="3673038" cy="1953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FSM  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altLang="ko-KR" sz="1200" b="1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Mono camera</a:t>
            </a:r>
            <a:r>
              <a:rPr lang="ko-KR" altLang="en-US" sz="1200" b="1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를 통한 </a:t>
            </a:r>
            <a:r>
              <a:rPr lang="en-US" altLang="ko-KR" sz="1200" b="1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object</a:t>
            </a:r>
            <a:r>
              <a:rPr lang="ko-KR" altLang="en-US" sz="1200" b="1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와의 거리 감지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각 신호등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표지판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정적 장애물에 대한 일정한 거리에서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(70cm)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픽셀값 측정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픽셀의 크기 변화를 통한 거리 변화 감지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장애물과 로봇과의 거리를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cm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단위로 제어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endParaRPr lang="ko-KR" alt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91840" y="31546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인식 → 모터 명령 변환 파이프라인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fsm_node → /fsm_cmd(JSON) → control_node → /cmd_vel → bridge → ESP32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control_node: 고수준 명령 → Twist 변환 (0.26 m/s, 20Hz 발행)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bridge_node: 차동구동 역기구학 → 좌/우 RPM (R=32.5mm, base=255mm)</a:t>
            </a:r>
            <a:endParaRPr lang="ko-KR" altLang="en-US" sz="10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ESP32: 20kHz PWM 구동 + 워치독 500ms → 명령 끊기면 자동 정지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82909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 | 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 </a:t>
            </a:r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altLang="ko-KR" sz="260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주행 로직(FSM) · 모터 제어 통합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274320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 영역 요약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기반 자율주행 로직 설계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96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모터 제어 통합 (PWM)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99923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/cmd_vel → 실물 동작 변환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5021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실물 로봇 안정적 자율주행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39"/>
            <a:ext cx="5486400" cy="2375989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463039"/>
            <a:ext cx="5486400" cy="23759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FSM 상태 설계 — 4-State 상태머신 (20Hz tick)</a:t>
            </a:r>
            <a:endParaRPr lang="ko-KR" altLang="en-US" sz="12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DRIVING / STOPPED / LANE_CHANGE / LEFT_TURN 4개 상태 전이 제어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조향: 화면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중심 오차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(pixel to cm)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× STEER_KP(0.02)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→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간단한 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PID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제어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]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LANE_CHANGE: ROTATE_OUT → STRAIGHT → ROTATE_IN 오픈루프 3단계</a:t>
            </a:r>
            <a:endParaRPr lang="ko-KR" altLang="en-US" sz="1000" dirty="0"/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ko-KR" altLang="en-US" sz="10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LEFT_TURN: 신호 픽셀높이 2단계 트리거 (15px≈270cm / 23px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≈140cm)</a:t>
            </a:r>
            <a:endParaRPr lang="en-US" altLang="ko-KR" sz="1000">
              <a:solidFill>
                <a:srgbClr val="475569"/>
              </a:solidFill>
              <a:latin typeface="Calibri" pitchFamily="34" charset="0"/>
              <a:ea typeface="맑은 고딕" pitchFamily="34" charset="-122"/>
              <a:cs typeface="Calibri" pitchFamily="34" charset="-120"/>
            </a:endParaRPr>
          </a:p>
          <a:p>
            <a:pPr marL="0" indent="0" algn="l">
              <a:lnSpc>
                <a:spcPct val="130000"/>
              </a:lnSpc>
              <a:spcBef>
                <a:spcPts val="400"/>
              </a:spcBef>
              <a:buNone/>
            </a:pP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차선 변경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(1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차선으로</a:t>
            </a:r>
            <a:r>
              <a:rPr lang="en-US" altLang="ko-KR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)</a:t>
            </a:r>
            <a:r>
              <a:rPr lang="ko-KR" altLang="en-US" sz="100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 및 좌회전 트리거 생성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667444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 |  Control &amp; FSM 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 구현 내용 및 결과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주행 실험 결과 &amp; 핵심 파라미터</a:t>
            </a:r>
            <a:endParaRPr lang="ko-KR" altLang="en-US" sz="13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추종: STEER_KP=0.02, deadband 0.5cm, 직진 0.23 m/s 안정 주행 확인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변경: 회전 az=1.6 rad/s×0.7s + 직진 0.34m 오픈루프 시퀀스 완주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좌회전: 픽셀높이 슬라이딩윈도우(7프레임 중 4회) 디바운싱으로 오트리거 제거</a:t>
            </a:r>
            <a:endParaRPr lang="ko-KR" altLang="en-US" sz="11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110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신호등: green 후 off 2.5s grace로 점멸 오정지 방지 / 70cm 이내만 반응</a:t>
            </a:r>
            <a:endParaRPr lang="ko-KR" alt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트러블슈팅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Current_lane (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차선 기억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) ‘both’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갱신 불안정 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 deque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  <a:sym typeface="Wingdings" panose="05000000000000000000" pitchFamily="2" charset="2"/>
              </a:rPr>
              <a:t>다수결로 전환</a:t>
            </a:r>
            <a:endParaRPr lang="ko-KR" altLang="en-US" sz="95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신호등 점멸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깜빡이</a:t>
            </a:r>
            <a:r>
              <a:rPr lang="en-US" altLang="ko-KR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)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 </a:t>
            </a: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오정지 → deque 다수결 + grace 타이머 디바운싱</a:t>
            </a:r>
            <a:endParaRPr lang="ko-KR" alt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3611880"/>
            <a:ext cx="4251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5F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결과</a:t>
            </a:r>
            <a:endParaRPr lang="ko-KR" altLang="en-US" sz="120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4-State FSM으로 신호·표지판·차선변경·좌회전 미션 연속 동작</a:t>
            </a:r>
            <a:endParaRPr lang="ko-KR" altLang="en-US" sz="950" dirty="0"/>
          </a:p>
          <a:p>
            <a:pPr marL="0" indent="0" algn="l">
              <a:spcBef>
                <a:spcPts val="400"/>
              </a:spcBef>
              <a:buNone/>
            </a:pPr>
            <a:r>
              <a:rPr lang="ko-KR" altLang="en-US" sz="950" dirty="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cmd_vel 끊김 시 ESP32 워치독 500ms 자동 정지 — </a:t>
            </a:r>
            <a:r>
              <a:rPr lang="ko-KR" altLang="en-US" sz="950">
                <a:solidFill>
                  <a:srgbClr val="4755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Fail-safe 확보</a:t>
            </a:r>
            <a:endParaRPr lang="ko-KR" altLang="en-US" sz="950" dirty="0"/>
          </a:p>
        </p:txBody>
      </p:sp>
    </p:spTree>
    <p:extLst>
      <p:ext uri="{BB962C8B-B14F-4D97-AF65-F5344CB8AC3E}">
        <p14:creationId xmlns:p14="http://schemas.microsoft.com/office/powerpoint/2010/main" val="391124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AI  ①  </a:t>
            </a:r>
            <a:endParaRPr lang="en-US" sz="2600" dirty="0"/>
          </a:p>
        </p:txBody>
      </p:sp>
      <p:sp>
        <p:nvSpPr>
          <p:cNvPr id="23" name="Text 3"/>
          <p:cNvSpPr/>
          <p:nvPr/>
        </p:nvSpPr>
        <p:spPr>
          <a:xfrm>
            <a:off x="365760" y="108723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· 횡단보도 · 정지선 인식 로직</a:t>
            </a:r>
            <a:endParaRPr lang="en-US" sz="1200" dirty="0"/>
          </a:p>
        </p:txBody>
      </p:sp>
      <p:sp>
        <p:nvSpPr>
          <p:cNvPr id="24" name="Shape 4"/>
          <p:cNvSpPr/>
          <p:nvPr/>
        </p:nvSpPr>
        <p:spPr>
          <a:xfrm>
            <a:off x="365760" y="1398131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21"/>
          <p:cNvSpPr/>
          <p:nvPr/>
        </p:nvSpPr>
        <p:spPr>
          <a:xfrm>
            <a:off x="2350008" y="1593342"/>
            <a:ext cx="658368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Text 22"/>
          <p:cNvSpPr/>
          <p:nvPr/>
        </p:nvSpPr>
        <p:spPr>
          <a:xfrm>
            <a:off x="2441448" y="159334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</a:t>
            </a:r>
            <a:endParaRPr lang="en-US" sz="1000" dirty="0"/>
          </a:p>
        </p:txBody>
      </p:sp>
      <p:sp>
        <p:nvSpPr>
          <p:cNvPr id="203" name="Shape 23"/>
          <p:cNvSpPr/>
          <p:nvPr/>
        </p:nvSpPr>
        <p:spPr>
          <a:xfrm>
            <a:off x="2350008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 24"/>
          <p:cNvSpPr/>
          <p:nvPr/>
        </p:nvSpPr>
        <p:spPr>
          <a:xfrm>
            <a:off x="2404872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추출</a:t>
            </a:r>
            <a:endParaRPr lang="en-US" sz="850" dirty="0"/>
          </a:p>
        </p:txBody>
      </p:sp>
      <p:sp>
        <p:nvSpPr>
          <p:cNvPr id="205" name="Text 25"/>
          <p:cNvSpPr/>
          <p:nvPr/>
        </p:nvSpPr>
        <p:spPr>
          <a:xfrm>
            <a:off x="2404872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 변해도 색상(HSV)으로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노란선만 정확히 분리</a:t>
            </a:r>
            <a:endParaRPr lang="en-US" sz="750" dirty="0"/>
          </a:p>
        </p:txBody>
      </p:sp>
      <p:sp>
        <p:nvSpPr>
          <p:cNvPr id="206" name="Text 26"/>
          <p:cNvSpPr/>
          <p:nvPr/>
        </p:nvSpPr>
        <p:spPr>
          <a:xfrm>
            <a:off x="2404872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H:18~40, S:40+</a:t>
            </a:r>
            <a:endParaRPr lang="en-US" sz="650" dirty="0"/>
          </a:p>
        </p:txBody>
      </p:sp>
      <p:sp>
        <p:nvSpPr>
          <p:cNvPr id="207" name="Text 27"/>
          <p:cNvSpPr/>
          <p:nvPr/>
        </p:nvSpPr>
        <p:spPr>
          <a:xfrm>
            <a:off x="3616452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08" name="Shape 28"/>
          <p:cNvSpPr/>
          <p:nvPr/>
        </p:nvSpPr>
        <p:spPr>
          <a:xfrm>
            <a:off x="3671316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Text 29"/>
          <p:cNvSpPr/>
          <p:nvPr/>
        </p:nvSpPr>
        <p:spPr>
          <a:xfrm>
            <a:off x="3726180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검은 점선 추출</a:t>
            </a:r>
            <a:endParaRPr lang="en-US" sz="850" dirty="0"/>
          </a:p>
        </p:txBody>
      </p:sp>
      <p:sp>
        <p:nvSpPr>
          <p:cNvPr id="210" name="Text 30"/>
          <p:cNvSpPr/>
          <p:nvPr/>
        </p:nvSpPr>
        <p:spPr>
          <a:xfrm>
            <a:off x="3726180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어두운 바닥에서 점선 대비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강제로 높여 윤곽 복원</a:t>
            </a:r>
            <a:endParaRPr lang="en-US" sz="750" dirty="0"/>
          </a:p>
        </p:txBody>
      </p:sp>
      <p:sp>
        <p:nvSpPr>
          <p:cNvPr id="211" name="Text 31"/>
          <p:cNvSpPr/>
          <p:nvPr/>
        </p:nvSpPr>
        <p:spPr>
          <a:xfrm>
            <a:off x="3726180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clipLimit=3.0</a:t>
            </a:r>
            <a:endParaRPr lang="en-US" sz="650" dirty="0"/>
          </a:p>
        </p:txBody>
      </p:sp>
      <p:sp>
        <p:nvSpPr>
          <p:cNvPr id="212" name="Text 32"/>
          <p:cNvSpPr/>
          <p:nvPr/>
        </p:nvSpPr>
        <p:spPr>
          <a:xfrm>
            <a:off x="4937760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3" name="Shape 33"/>
          <p:cNvSpPr/>
          <p:nvPr/>
        </p:nvSpPr>
        <p:spPr>
          <a:xfrm>
            <a:off x="4992624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Text 34"/>
          <p:cNvSpPr/>
          <p:nvPr/>
        </p:nvSpPr>
        <p:spPr>
          <a:xfrm>
            <a:off x="5047488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반사광 제거</a:t>
            </a:r>
            <a:endParaRPr lang="en-US" sz="850" dirty="0"/>
          </a:p>
        </p:txBody>
      </p:sp>
      <p:sp>
        <p:nvSpPr>
          <p:cNvPr id="215" name="Text 35"/>
          <p:cNvSpPr/>
          <p:nvPr/>
        </p:nvSpPr>
        <p:spPr>
          <a:xfrm>
            <a:off x="5047488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픽셀이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차선으로 오인되는 것 방지</a:t>
            </a:r>
            <a:endParaRPr lang="en-US" sz="750" dirty="0"/>
          </a:p>
        </p:txBody>
      </p:sp>
      <p:sp>
        <p:nvSpPr>
          <p:cNvPr id="216" name="Text 36"/>
          <p:cNvSpPr/>
          <p:nvPr/>
        </p:nvSpPr>
        <p:spPr>
          <a:xfrm>
            <a:off x="5047488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&gt; 220 → 마스크 제거</a:t>
            </a:r>
            <a:endParaRPr lang="en-US" sz="650" dirty="0"/>
          </a:p>
        </p:txBody>
      </p:sp>
      <p:sp>
        <p:nvSpPr>
          <p:cNvPr id="217" name="Text 37"/>
          <p:cNvSpPr/>
          <p:nvPr/>
        </p:nvSpPr>
        <p:spPr>
          <a:xfrm>
            <a:off x="6259068" y="2196846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59669"/>
                </a:solidFill>
              </a:rPr>
              <a:t>▶</a:t>
            </a:r>
            <a:endParaRPr lang="en-US" sz="600" dirty="0"/>
          </a:p>
        </p:txBody>
      </p:sp>
      <p:sp>
        <p:nvSpPr>
          <p:cNvPr id="218" name="Shape 38"/>
          <p:cNvSpPr/>
          <p:nvPr/>
        </p:nvSpPr>
        <p:spPr>
          <a:xfrm>
            <a:off x="6313932" y="1904238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ext 39"/>
          <p:cNvSpPr/>
          <p:nvPr/>
        </p:nvSpPr>
        <p:spPr>
          <a:xfrm>
            <a:off x="6368796" y="1922526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번호 판단</a:t>
            </a:r>
            <a:endParaRPr lang="en-US" sz="850" dirty="0"/>
          </a:p>
        </p:txBody>
      </p:sp>
      <p:sp>
        <p:nvSpPr>
          <p:cNvPr id="220" name="Text 40"/>
          <p:cNvSpPr/>
          <p:nvPr/>
        </p:nvSpPr>
        <p:spPr>
          <a:xfrm>
            <a:off x="6368796" y="2114550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좌우에 어떤 선이 있는지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조합해 1~4번 차선 결정</a:t>
            </a:r>
            <a:endParaRPr lang="en-US" sz="750" dirty="0"/>
          </a:p>
        </p:txBody>
      </p:sp>
      <p:sp>
        <p:nvSpPr>
          <p:cNvPr id="221" name="Text 41"/>
          <p:cNvSpPr/>
          <p:nvPr/>
        </p:nvSpPr>
        <p:spPr>
          <a:xfrm>
            <a:off x="6368796" y="2452878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yellow_left/right → 0~4</a:t>
            </a:r>
            <a:endParaRPr lang="en-US" sz="650" dirty="0"/>
          </a:p>
        </p:txBody>
      </p:sp>
      <p:sp>
        <p:nvSpPr>
          <p:cNvPr id="222" name="Shape 42"/>
          <p:cNvSpPr/>
          <p:nvPr/>
        </p:nvSpPr>
        <p:spPr>
          <a:xfrm>
            <a:off x="7744968" y="1904238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ext 43"/>
          <p:cNvSpPr/>
          <p:nvPr/>
        </p:nvSpPr>
        <p:spPr>
          <a:xfrm>
            <a:off x="7790688" y="1904238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debug_roi_lane.png</a:t>
            </a:r>
            <a:endParaRPr lang="en-US" sz="700" dirty="0"/>
          </a:p>
        </p:txBody>
      </p:sp>
      <p:sp>
        <p:nvSpPr>
          <p:cNvPr id="224" name="Shape 44"/>
          <p:cNvSpPr/>
          <p:nvPr/>
        </p:nvSpPr>
        <p:spPr>
          <a:xfrm>
            <a:off x="2350008" y="2800350"/>
            <a:ext cx="65836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Text 45"/>
          <p:cNvSpPr/>
          <p:nvPr/>
        </p:nvSpPr>
        <p:spPr>
          <a:xfrm>
            <a:off x="2441448" y="280035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인식</a:t>
            </a:r>
            <a:endParaRPr lang="en-US" sz="1000" dirty="0"/>
          </a:p>
        </p:txBody>
      </p:sp>
      <p:sp>
        <p:nvSpPr>
          <p:cNvPr id="226" name="Shape 46"/>
          <p:cNvSpPr/>
          <p:nvPr/>
        </p:nvSpPr>
        <p:spPr>
          <a:xfrm>
            <a:off x="2350008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Text 47"/>
          <p:cNvSpPr/>
          <p:nvPr/>
        </p:nvSpPr>
        <p:spPr>
          <a:xfrm>
            <a:off x="2404872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추출</a:t>
            </a:r>
            <a:endParaRPr lang="en-US" sz="850" dirty="0"/>
          </a:p>
        </p:txBody>
      </p:sp>
      <p:sp>
        <p:nvSpPr>
          <p:cNvPr id="228" name="Text 48"/>
          <p:cNvSpPr/>
          <p:nvPr/>
        </p:nvSpPr>
        <p:spPr>
          <a:xfrm>
            <a:off x="2404872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후 이진화로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흰색 줄무늬 패턴 선명하게</a:t>
            </a:r>
            <a:endParaRPr lang="en-US" sz="750" dirty="0"/>
          </a:p>
        </p:txBody>
      </p:sp>
      <p:sp>
        <p:nvSpPr>
          <p:cNvPr id="229" name="Text 49"/>
          <p:cNvSpPr/>
          <p:nvPr/>
        </p:nvSpPr>
        <p:spPr>
          <a:xfrm>
            <a:off x="2404872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→ THRESH_BINARY_INV</a:t>
            </a:r>
            <a:endParaRPr lang="en-US" sz="650" dirty="0"/>
          </a:p>
        </p:txBody>
      </p:sp>
      <p:sp>
        <p:nvSpPr>
          <p:cNvPr id="230" name="Text 50"/>
          <p:cNvSpPr/>
          <p:nvPr/>
        </p:nvSpPr>
        <p:spPr>
          <a:xfrm>
            <a:off x="3616452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1" name="Shape 51"/>
          <p:cNvSpPr/>
          <p:nvPr/>
        </p:nvSpPr>
        <p:spPr>
          <a:xfrm>
            <a:off x="3671316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Text 52"/>
          <p:cNvSpPr/>
          <p:nvPr/>
        </p:nvSpPr>
        <p:spPr>
          <a:xfrm>
            <a:off x="3726180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제거</a:t>
            </a:r>
            <a:endParaRPr lang="en-US" sz="850" dirty="0"/>
          </a:p>
        </p:txBody>
      </p:sp>
      <p:sp>
        <p:nvSpPr>
          <p:cNvPr id="233" name="Text 53"/>
          <p:cNvSpPr/>
          <p:nvPr/>
        </p:nvSpPr>
        <p:spPr>
          <a:xfrm>
            <a:off x="3726180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감지한 장애물 영역을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지워 오탐 방지</a:t>
            </a:r>
            <a:endParaRPr lang="en-US" sz="750" dirty="0"/>
          </a:p>
        </p:txBody>
      </p:sp>
      <p:sp>
        <p:nvSpPr>
          <p:cNvPr id="234" name="Text 54"/>
          <p:cNvSpPr/>
          <p:nvPr/>
        </p:nvSpPr>
        <p:spPr>
          <a:xfrm>
            <a:off x="3726180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cw_top[bbox영역] = 0</a:t>
            </a:r>
            <a:endParaRPr lang="en-US" sz="650" dirty="0"/>
          </a:p>
        </p:txBody>
      </p:sp>
      <p:sp>
        <p:nvSpPr>
          <p:cNvPr id="235" name="Text 55"/>
          <p:cNvSpPr/>
          <p:nvPr/>
        </p:nvSpPr>
        <p:spPr>
          <a:xfrm>
            <a:off x="4937760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36" name="Shape 56"/>
          <p:cNvSpPr/>
          <p:nvPr/>
        </p:nvSpPr>
        <p:spPr>
          <a:xfrm>
            <a:off x="4992624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Text 57"/>
          <p:cNvSpPr/>
          <p:nvPr/>
        </p:nvSpPr>
        <p:spPr>
          <a:xfrm>
            <a:off x="5047488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윤곽선 추출</a:t>
            </a:r>
            <a:endParaRPr lang="en-US" sz="850" dirty="0"/>
          </a:p>
        </p:txBody>
      </p:sp>
      <p:sp>
        <p:nvSpPr>
          <p:cNvPr id="238" name="Text 58"/>
          <p:cNvSpPr/>
          <p:nvPr/>
        </p:nvSpPr>
        <p:spPr>
          <a:xfrm>
            <a:off x="5047488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덩어리의 위치와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크기를 개별로 파악</a:t>
            </a:r>
            <a:endParaRPr lang="en-US" sz="750" dirty="0"/>
          </a:p>
        </p:txBody>
      </p:sp>
      <p:sp>
        <p:nvSpPr>
          <p:cNvPr id="239" name="Text 59"/>
          <p:cNvSpPr/>
          <p:nvPr/>
        </p:nvSpPr>
        <p:spPr>
          <a:xfrm>
            <a:off x="5047488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</a:t>
            </a:r>
            <a:endParaRPr lang="en-US" sz="650" dirty="0"/>
          </a:p>
        </p:txBody>
      </p:sp>
      <p:sp>
        <p:nvSpPr>
          <p:cNvPr id="240" name="Text 60"/>
          <p:cNvSpPr/>
          <p:nvPr/>
        </p:nvSpPr>
        <p:spPr>
          <a:xfrm>
            <a:off x="6259068" y="3403854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0A896"/>
                </a:solidFill>
              </a:rPr>
              <a:t>▶</a:t>
            </a:r>
            <a:endParaRPr lang="en-US" sz="600" dirty="0"/>
          </a:p>
        </p:txBody>
      </p:sp>
      <p:sp>
        <p:nvSpPr>
          <p:cNvPr id="241" name="Shape 61"/>
          <p:cNvSpPr/>
          <p:nvPr/>
        </p:nvSpPr>
        <p:spPr>
          <a:xfrm>
            <a:off x="6313932" y="3111246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2" name="Text 62"/>
          <p:cNvSpPr/>
          <p:nvPr/>
        </p:nvSpPr>
        <p:spPr>
          <a:xfrm>
            <a:off x="6368796" y="3129534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판정</a:t>
            </a:r>
            <a:endParaRPr lang="en-US" sz="850" dirty="0"/>
          </a:p>
        </p:txBody>
      </p:sp>
      <p:sp>
        <p:nvSpPr>
          <p:cNvPr id="243" name="Text 63"/>
          <p:cNvSpPr/>
          <p:nvPr/>
        </p:nvSpPr>
        <p:spPr>
          <a:xfrm>
            <a:off x="6368796" y="3321558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줄무늬가 일정 간격으로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넓게 퍼져있을 때만 인정</a:t>
            </a:r>
            <a:endParaRPr lang="en-US" sz="750" dirty="0"/>
          </a:p>
        </p:txBody>
      </p:sp>
      <p:sp>
        <p:nvSpPr>
          <p:cNvPr id="244" name="Text 64"/>
          <p:cNvSpPr/>
          <p:nvPr/>
        </p:nvSpPr>
        <p:spPr>
          <a:xfrm>
            <a:off x="6368796" y="3659886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mean×0.6</a:t>
            </a:r>
            <a:endParaRPr lang="en-US" sz="650" dirty="0"/>
          </a:p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x_spread ≥ 480px</a:t>
            </a:r>
            <a:endParaRPr lang="en-US" sz="650" dirty="0"/>
          </a:p>
        </p:txBody>
      </p:sp>
      <p:sp>
        <p:nvSpPr>
          <p:cNvPr id="245" name="Shape 65"/>
          <p:cNvSpPr/>
          <p:nvPr/>
        </p:nvSpPr>
        <p:spPr>
          <a:xfrm>
            <a:off x="7744968" y="3111246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0A89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6" name="Text 66"/>
          <p:cNvSpPr/>
          <p:nvPr/>
        </p:nvSpPr>
        <p:spPr>
          <a:xfrm>
            <a:off x="7790688" y="3111246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debug_cw_top_contours.png</a:t>
            </a:r>
            <a:endParaRPr lang="en-US" sz="700" dirty="0"/>
          </a:p>
        </p:txBody>
      </p:sp>
      <p:sp>
        <p:nvSpPr>
          <p:cNvPr id="247" name="Shape 67"/>
          <p:cNvSpPr/>
          <p:nvPr/>
        </p:nvSpPr>
        <p:spPr>
          <a:xfrm>
            <a:off x="2350008" y="4007358"/>
            <a:ext cx="65836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8" name="Text 68"/>
          <p:cNvSpPr/>
          <p:nvPr/>
        </p:nvSpPr>
        <p:spPr>
          <a:xfrm>
            <a:off x="2441448" y="400735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인식</a:t>
            </a:r>
            <a:endParaRPr lang="en-US" sz="1000" dirty="0"/>
          </a:p>
        </p:txBody>
      </p:sp>
      <p:sp>
        <p:nvSpPr>
          <p:cNvPr id="249" name="Shape 69"/>
          <p:cNvSpPr/>
          <p:nvPr/>
        </p:nvSpPr>
        <p:spPr>
          <a:xfrm>
            <a:off x="2350008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Text 70"/>
          <p:cNvSpPr/>
          <p:nvPr/>
        </p:nvSpPr>
        <p:spPr>
          <a:xfrm>
            <a:off x="2404872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빨간선 추출</a:t>
            </a:r>
            <a:endParaRPr lang="en-US" sz="850" dirty="0"/>
          </a:p>
        </p:txBody>
      </p:sp>
      <p:sp>
        <p:nvSpPr>
          <p:cNvPr id="251" name="Text 71"/>
          <p:cNvSpPr/>
          <p:nvPr/>
        </p:nvSpPr>
        <p:spPr>
          <a:xfrm>
            <a:off x="2404872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정지선만 HSV로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색상과 분리</a:t>
            </a:r>
            <a:endParaRPr lang="en-US" sz="750" dirty="0"/>
          </a:p>
        </p:txBody>
      </p:sp>
      <p:sp>
        <p:nvSpPr>
          <p:cNvPr id="252" name="Text 72"/>
          <p:cNvSpPr/>
          <p:nvPr/>
        </p:nvSpPr>
        <p:spPr>
          <a:xfrm>
            <a:off x="2404872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H:0~10, 170~180</a:t>
            </a:r>
            <a:endParaRPr lang="en-US" sz="650" dirty="0"/>
          </a:p>
        </p:txBody>
      </p:sp>
      <p:sp>
        <p:nvSpPr>
          <p:cNvPr id="253" name="Text 73"/>
          <p:cNvSpPr/>
          <p:nvPr/>
        </p:nvSpPr>
        <p:spPr>
          <a:xfrm>
            <a:off x="3616452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4" name="Shape 74"/>
          <p:cNvSpPr/>
          <p:nvPr/>
        </p:nvSpPr>
        <p:spPr>
          <a:xfrm>
            <a:off x="3671316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5" name="Text 75"/>
          <p:cNvSpPr/>
          <p:nvPr/>
        </p:nvSpPr>
        <p:spPr>
          <a:xfrm>
            <a:off x="3726180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수평선 검출</a:t>
            </a:r>
            <a:endParaRPr lang="en-US" sz="850" dirty="0"/>
          </a:p>
        </p:txBody>
      </p:sp>
      <p:sp>
        <p:nvSpPr>
          <p:cNvPr id="256" name="Text 76"/>
          <p:cNvSpPr/>
          <p:nvPr/>
        </p:nvSpPr>
        <p:spPr>
          <a:xfrm>
            <a:off x="3726180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가로로 뻗은 선만 정지선으로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인정해 오탐 줄임</a:t>
            </a:r>
            <a:endParaRPr lang="en-US" sz="750" dirty="0"/>
          </a:p>
        </p:txBody>
      </p:sp>
      <p:sp>
        <p:nvSpPr>
          <p:cNvPr id="257" name="Text 77"/>
          <p:cNvSpPr/>
          <p:nvPr/>
        </p:nvSpPr>
        <p:spPr>
          <a:xfrm>
            <a:off x="3726180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Hough, theta≈90°</a:t>
            </a:r>
            <a:endParaRPr lang="en-US" sz="650" dirty="0"/>
          </a:p>
        </p:txBody>
      </p:sp>
      <p:sp>
        <p:nvSpPr>
          <p:cNvPr id="258" name="Text 78"/>
          <p:cNvSpPr/>
          <p:nvPr/>
        </p:nvSpPr>
        <p:spPr>
          <a:xfrm>
            <a:off x="4937760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59" name="Shape 79"/>
          <p:cNvSpPr/>
          <p:nvPr/>
        </p:nvSpPr>
        <p:spPr>
          <a:xfrm>
            <a:off x="4992624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0" name="Text 80"/>
          <p:cNvSpPr/>
          <p:nvPr/>
        </p:nvSpPr>
        <p:spPr>
          <a:xfrm>
            <a:off x="5047488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측정</a:t>
            </a:r>
            <a:endParaRPr lang="en-US" sz="850" dirty="0"/>
          </a:p>
        </p:txBody>
      </p:sp>
      <p:sp>
        <p:nvSpPr>
          <p:cNvPr id="261" name="Text 81"/>
          <p:cNvSpPr/>
          <p:nvPr/>
        </p:nvSpPr>
        <p:spPr>
          <a:xfrm>
            <a:off x="5047488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로봇이 정지선과 얼마나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틀어졌는지 각도 계산</a:t>
            </a:r>
            <a:endParaRPr lang="en-US" sz="750" dirty="0"/>
          </a:p>
        </p:txBody>
      </p:sp>
      <p:sp>
        <p:nvSpPr>
          <p:cNvPr id="262" name="Text 82"/>
          <p:cNvSpPr/>
          <p:nvPr/>
        </p:nvSpPr>
        <p:spPr>
          <a:xfrm>
            <a:off x="5047488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atan2(dx, dy)</a:t>
            </a:r>
            <a:endParaRPr lang="en-US" sz="650" dirty="0"/>
          </a:p>
        </p:txBody>
      </p:sp>
      <p:sp>
        <p:nvSpPr>
          <p:cNvPr id="263" name="Text 83"/>
          <p:cNvSpPr/>
          <p:nvPr/>
        </p:nvSpPr>
        <p:spPr>
          <a:xfrm>
            <a:off x="6259068" y="4610862"/>
            <a:ext cx="73152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065A82"/>
                </a:solidFill>
              </a:rPr>
              <a:t>▶</a:t>
            </a:r>
            <a:endParaRPr lang="en-US" sz="600" dirty="0"/>
          </a:p>
        </p:txBody>
      </p:sp>
      <p:sp>
        <p:nvSpPr>
          <p:cNvPr id="264" name="Shape 84"/>
          <p:cNvSpPr/>
          <p:nvPr/>
        </p:nvSpPr>
        <p:spPr>
          <a:xfrm>
            <a:off x="6313932" y="4318254"/>
            <a:ext cx="1257300" cy="768096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Text 85"/>
          <p:cNvSpPr/>
          <p:nvPr/>
        </p:nvSpPr>
        <p:spPr>
          <a:xfrm>
            <a:off x="6368796" y="4336542"/>
            <a:ext cx="116586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보정</a:t>
            </a:r>
            <a:endParaRPr lang="en-US" sz="850" dirty="0"/>
          </a:p>
        </p:txBody>
      </p:sp>
      <p:sp>
        <p:nvSpPr>
          <p:cNvPr id="266" name="Text 86"/>
          <p:cNvSpPr/>
          <p:nvPr/>
        </p:nvSpPr>
        <p:spPr>
          <a:xfrm>
            <a:off x="6368796" y="4528566"/>
            <a:ext cx="1165860" cy="3291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기울어진 만큼 차선 중심을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보정해 정렬 후 정지</a:t>
            </a:r>
            <a:endParaRPr lang="en-US" sz="750" dirty="0"/>
          </a:p>
        </p:txBody>
      </p:sp>
      <p:sp>
        <p:nvSpPr>
          <p:cNvPr id="267" name="Text 87"/>
          <p:cNvSpPr/>
          <p:nvPr/>
        </p:nvSpPr>
        <p:spPr>
          <a:xfrm>
            <a:off x="6368796" y="4866894"/>
            <a:ext cx="116586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stop_line_angle_offset</a:t>
            </a:r>
            <a:endParaRPr lang="en-US" sz="650" dirty="0"/>
          </a:p>
        </p:txBody>
      </p:sp>
      <p:sp>
        <p:nvSpPr>
          <p:cNvPr id="268" name="Shape 88"/>
          <p:cNvSpPr/>
          <p:nvPr/>
        </p:nvSpPr>
        <p:spPr>
          <a:xfrm>
            <a:off x="7744968" y="4318254"/>
            <a:ext cx="118872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065A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9" name="Text 89"/>
          <p:cNvSpPr/>
          <p:nvPr/>
        </p:nvSpPr>
        <p:spPr>
          <a:xfrm>
            <a:off x="7790688" y="4318254"/>
            <a:ext cx="1115568" cy="7680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processed_viz.png</a:t>
            </a:r>
            <a:endParaRPr lang="en-US" sz="700" dirty="0"/>
          </a:p>
        </p:txBody>
      </p:sp>
      <p:sp>
        <p:nvSpPr>
          <p:cNvPr id="270" name="Shape 5"/>
          <p:cNvSpPr/>
          <p:nvPr/>
        </p:nvSpPr>
        <p:spPr>
          <a:xfrm>
            <a:off x="312669" y="1575741"/>
            <a:ext cx="1920240" cy="3429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566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" name="Text 6"/>
          <p:cNvSpPr/>
          <p:nvPr/>
        </p:nvSpPr>
        <p:spPr>
          <a:xfrm>
            <a:off x="312669" y="1621461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영상</a:t>
            </a:r>
            <a:endParaRPr lang="en-US" sz="750" dirty="0"/>
          </a:p>
        </p:txBody>
      </p:sp>
      <p:sp>
        <p:nvSpPr>
          <p:cNvPr id="272" name="Shape 7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solidFill>
            <a:srgbClr val="3A4A5A"/>
          </a:solidFill>
          <a:ln w="12700">
            <a:solidFill>
              <a:srgbClr val="4A5A6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3" name="Text 8"/>
          <p:cNvSpPr/>
          <p:nvPr/>
        </p:nvSpPr>
        <p:spPr>
          <a:xfrm>
            <a:off x="422397" y="1895781"/>
            <a:ext cx="1700784" cy="897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배경</a:t>
            </a:r>
            <a:endParaRPr lang="en-US" sz="700" dirty="0"/>
          </a:p>
        </p:txBody>
      </p:sp>
      <p:sp>
        <p:nvSpPr>
          <p:cNvPr id="274" name="Shape 9"/>
          <p:cNvSpPr/>
          <p:nvPr/>
        </p:nvSpPr>
        <p:spPr>
          <a:xfrm>
            <a:off x="422397" y="2792807"/>
            <a:ext cx="1700784" cy="2093062"/>
          </a:xfrm>
          <a:prstGeom prst="rect">
            <a:avLst/>
          </a:prstGeom>
          <a:solidFill>
            <a:srgbClr val="3D3000"/>
          </a:solidFill>
          <a:ln w="254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" name="Text 10"/>
          <p:cNvSpPr/>
          <p:nvPr/>
        </p:nvSpPr>
        <p:spPr>
          <a:xfrm>
            <a:off x="422397" y="2865959"/>
            <a:ext cx="1700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ROI</a:t>
            </a:r>
            <a:endParaRPr lang="en-US" sz="750" dirty="0"/>
          </a:p>
        </p:txBody>
      </p:sp>
      <p:sp>
        <p:nvSpPr>
          <p:cNvPr id="276" name="Text 11"/>
          <p:cNvSpPr/>
          <p:nvPr/>
        </p:nvSpPr>
        <p:spPr>
          <a:xfrm>
            <a:off x="422397" y="3048839"/>
            <a:ext cx="1700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0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h×0.35 ~ h</a:t>
            </a:r>
            <a:endParaRPr lang="en-US" sz="650" dirty="0"/>
          </a:p>
        </p:txBody>
      </p:sp>
      <p:sp>
        <p:nvSpPr>
          <p:cNvPr id="277" name="Shape 12"/>
          <p:cNvSpPr/>
          <p:nvPr/>
        </p:nvSpPr>
        <p:spPr>
          <a:xfrm>
            <a:off x="422397" y="3169558"/>
            <a:ext cx="1700784" cy="460474"/>
          </a:xfrm>
          <a:prstGeom prst="rect">
            <a:avLst/>
          </a:prstGeom>
          <a:solidFill>
            <a:srgbClr val="003D35"/>
          </a:solidFill>
          <a:ln w="25400">
            <a:solidFill>
              <a:srgbClr val="00E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8" name="Text 13"/>
          <p:cNvSpPr/>
          <p:nvPr/>
        </p:nvSpPr>
        <p:spPr>
          <a:xfrm>
            <a:off x="422397" y="322442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E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ROI</a:t>
            </a:r>
            <a:endParaRPr lang="en-US" sz="700" dirty="0"/>
          </a:p>
        </p:txBody>
      </p:sp>
      <p:sp>
        <p:nvSpPr>
          <p:cNvPr id="279" name="Text 14"/>
          <p:cNvSpPr/>
          <p:nvPr/>
        </p:nvSpPr>
        <p:spPr>
          <a:xfrm>
            <a:off x="422397" y="3398158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00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cw_top</a:t>
            </a:r>
            <a:endParaRPr lang="en-US" sz="650" dirty="0"/>
          </a:p>
        </p:txBody>
      </p:sp>
      <p:sp>
        <p:nvSpPr>
          <p:cNvPr id="280" name="Shape 15"/>
          <p:cNvSpPr/>
          <p:nvPr/>
        </p:nvSpPr>
        <p:spPr>
          <a:xfrm>
            <a:off x="422397" y="4090506"/>
            <a:ext cx="1700784" cy="627918"/>
          </a:xfrm>
          <a:prstGeom prst="rect">
            <a:avLst/>
          </a:prstGeom>
          <a:solidFill>
            <a:srgbClr val="3D0A00"/>
          </a:solidFill>
          <a:ln w="254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Text 16"/>
          <p:cNvSpPr/>
          <p:nvPr/>
        </p:nvSpPr>
        <p:spPr>
          <a:xfrm>
            <a:off x="422397" y="4145370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ROI</a:t>
            </a:r>
            <a:endParaRPr lang="en-US" sz="700" dirty="0"/>
          </a:p>
        </p:txBody>
      </p:sp>
      <p:sp>
        <p:nvSpPr>
          <p:cNvPr id="282" name="Text 17"/>
          <p:cNvSpPr/>
          <p:nvPr/>
        </p:nvSpPr>
        <p:spPr>
          <a:xfrm>
            <a:off x="422397" y="4319106"/>
            <a:ext cx="170078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h×0.7 ~ h</a:t>
            </a:r>
            <a:endParaRPr lang="en-US" sz="650" dirty="0"/>
          </a:p>
        </p:txBody>
      </p:sp>
      <p:sp>
        <p:nvSpPr>
          <p:cNvPr id="283" name="Shape 18"/>
          <p:cNvSpPr/>
          <p:nvPr/>
        </p:nvSpPr>
        <p:spPr>
          <a:xfrm>
            <a:off x="422397" y="4346373"/>
            <a:ext cx="128016" cy="12801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4" name="Text 19"/>
          <p:cNvSpPr/>
          <p:nvPr/>
        </p:nvSpPr>
        <p:spPr>
          <a:xfrm>
            <a:off x="605277" y="4318941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 (h×0.35~h)</a:t>
            </a:r>
            <a:endParaRPr lang="en-US" sz="650" dirty="0"/>
          </a:p>
        </p:txBody>
      </p:sp>
      <p:sp>
        <p:nvSpPr>
          <p:cNvPr id="285" name="Shape 20"/>
          <p:cNvSpPr/>
          <p:nvPr/>
        </p:nvSpPr>
        <p:spPr>
          <a:xfrm>
            <a:off x="422397" y="4547541"/>
            <a:ext cx="128016" cy="128016"/>
          </a:xfrm>
          <a:prstGeom prst="rect">
            <a:avLst/>
          </a:prstGeom>
          <a:solidFill>
            <a:srgbClr val="00E5C8"/>
          </a:solidFill>
          <a:ln w="12700">
            <a:solidFill>
              <a:srgbClr val="00E5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6" name="Text 21"/>
          <p:cNvSpPr/>
          <p:nvPr/>
        </p:nvSpPr>
        <p:spPr>
          <a:xfrm>
            <a:off x="605277" y="4520109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횡단보도  (cw_top)</a:t>
            </a:r>
            <a:endParaRPr lang="en-US" sz="650" dirty="0"/>
          </a:p>
        </p:txBody>
      </p:sp>
      <p:sp>
        <p:nvSpPr>
          <p:cNvPr id="287" name="Shape 22"/>
          <p:cNvSpPr/>
          <p:nvPr/>
        </p:nvSpPr>
        <p:spPr>
          <a:xfrm>
            <a:off x="422397" y="4748709"/>
            <a:ext cx="128016" cy="128016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8" name="Text 23"/>
          <p:cNvSpPr/>
          <p:nvPr/>
        </p:nvSpPr>
        <p:spPr>
          <a:xfrm>
            <a:off x="605277" y="4721277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정지선  (h×0.7~h)</a:t>
            </a:r>
            <a:endParaRPr lang="en-US" sz="65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2" y="3113010"/>
            <a:ext cx="1243036" cy="82231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318254"/>
            <a:ext cx="1184148" cy="75856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848" y="1904238"/>
            <a:ext cx="1207984" cy="782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 </a:t>
            </a: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AI  ②</a:t>
            </a:r>
            <a:endParaRPr lang="en-US" sz="2600" dirty="0"/>
          </a:p>
        </p:txBody>
      </p:sp>
      <p:sp>
        <p:nvSpPr>
          <p:cNvPr id="43" name="Text 3"/>
          <p:cNvSpPr/>
          <p:nvPr/>
        </p:nvSpPr>
        <p:spPr>
          <a:xfrm>
            <a:off x="364166" y="10752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과정에서 발생한 이슈와 해결 방법</a:t>
            </a:r>
            <a:endParaRPr lang="en-US" sz="1200" dirty="0"/>
          </a:p>
        </p:txBody>
      </p:sp>
      <p:sp>
        <p:nvSpPr>
          <p:cNvPr id="77" name="Shape 4"/>
          <p:cNvSpPr/>
          <p:nvPr/>
        </p:nvSpPr>
        <p:spPr>
          <a:xfrm>
            <a:off x="342900" y="1412715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"/>
          <p:cNvSpPr/>
          <p:nvPr/>
        </p:nvSpPr>
        <p:spPr>
          <a:xfrm>
            <a:off x="25146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6"/>
          <p:cNvSpPr/>
          <p:nvPr/>
        </p:nvSpPr>
        <p:spPr>
          <a:xfrm>
            <a:off x="251460" y="1577307"/>
            <a:ext cx="4206240" cy="31089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"/>
          <p:cNvSpPr/>
          <p:nvPr/>
        </p:nvSpPr>
        <p:spPr>
          <a:xfrm>
            <a:off x="34290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형광등 반사 → 차선 인식 실패</a:t>
            </a:r>
            <a:endParaRPr lang="en-US" sz="950" dirty="0"/>
          </a:p>
        </p:txBody>
      </p:sp>
      <p:sp>
        <p:nvSpPr>
          <p:cNvPr id="81" name="Text 8"/>
          <p:cNvSpPr/>
          <p:nvPr/>
        </p:nvSpPr>
        <p:spPr>
          <a:xfrm>
            <a:off x="36118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82" name="Text 9"/>
          <p:cNvSpPr/>
          <p:nvPr/>
        </p:nvSpPr>
        <p:spPr>
          <a:xfrm>
            <a:off x="87325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짙은 회색 바닥에 형광등이 반사되면서 노란선 색이 흐려지고, 검은 점선과 바닥이 구분되지 않음</a:t>
            </a:r>
            <a:endParaRPr lang="en-US" sz="800" dirty="0"/>
          </a:p>
        </p:txBody>
      </p:sp>
      <p:sp>
        <p:nvSpPr>
          <p:cNvPr id="83" name="Shape 10"/>
          <p:cNvSpPr/>
          <p:nvPr/>
        </p:nvSpPr>
        <p:spPr>
          <a:xfrm>
            <a:off x="36118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11"/>
          <p:cNvSpPr/>
          <p:nvPr/>
        </p:nvSpPr>
        <p:spPr>
          <a:xfrm>
            <a:off x="36118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85" name="Text 12"/>
          <p:cNvSpPr/>
          <p:nvPr/>
        </p:nvSpPr>
        <p:spPr>
          <a:xfrm>
            <a:off x="87325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노란선 감지 감도를 높여 흐린 색도 잡히도록 허용 범위 완화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S 하한 완화 (80→40)</a:t>
            </a:r>
            <a:endParaRPr lang="en-US" sz="800" dirty="0"/>
          </a:p>
        </p:txBody>
      </p:sp>
      <p:sp>
        <p:nvSpPr>
          <p:cNvPr id="86" name="Text 13"/>
          <p:cNvSpPr/>
          <p:nvPr/>
        </p:nvSpPr>
        <p:spPr>
          <a:xfrm>
            <a:off x="87325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강화 강도를 높여 점선 윤곽이 더 선명하게 드러나도록 조정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clipLimit (1.5→3.0)</a:t>
            </a:r>
            <a:endParaRPr lang="en-US" sz="800" dirty="0"/>
          </a:p>
        </p:txBody>
      </p:sp>
      <p:sp>
        <p:nvSpPr>
          <p:cNvPr id="87" name="Text 14"/>
          <p:cNvSpPr/>
          <p:nvPr/>
        </p:nvSpPr>
        <p:spPr>
          <a:xfrm>
            <a:off x="87325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반사로 과도하게 밝아진 픽셀을 차선 탐색 전 미리 제거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V채널 220 이상 마스킹</a:t>
            </a:r>
            <a:endParaRPr lang="en-US" sz="800" dirty="0"/>
          </a:p>
        </p:txBody>
      </p:sp>
      <p:sp>
        <p:nvSpPr>
          <p:cNvPr id="88" name="Shape 15"/>
          <p:cNvSpPr/>
          <p:nvPr/>
        </p:nvSpPr>
        <p:spPr>
          <a:xfrm>
            <a:off x="4686300" y="157730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16"/>
          <p:cNvSpPr/>
          <p:nvPr/>
        </p:nvSpPr>
        <p:spPr>
          <a:xfrm>
            <a:off x="4686300" y="1577307"/>
            <a:ext cx="4206240" cy="31089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17"/>
          <p:cNvSpPr/>
          <p:nvPr/>
        </p:nvSpPr>
        <p:spPr>
          <a:xfrm>
            <a:off x="4777740" y="157730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교체 → OpenCV 파라미터 전면 재조정</a:t>
            </a:r>
            <a:endParaRPr lang="en-US" sz="950" dirty="0"/>
          </a:p>
        </p:txBody>
      </p:sp>
      <p:sp>
        <p:nvSpPr>
          <p:cNvPr id="91" name="Text 18"/>
          <p:cNvSpPr/>
          <p:nvPr/>
        </p:nvSpPr>
        <p:spPr>
          <a:xfrm>
            <a:off x="4796028" y="19247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92" name="Text 19"/>
          <p:cNvSpPr/>
          <p:nvPr/>
        </p:nvSpPr>
        <p:spPr>
          <a:xfrm>
            <a:off x="5308092" y="191563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기종 교체 + 아래 방향으로 각도 변경으로 화각·밝기·왜곡이 달라져 기존 설정값 전체가 무효화됨</a:t>
            </a:r>
            <a:endParaRPr lang="en-US" sz="800" dirty="0"/>
          </a:p>
        </p:txBody>
      </p:sp>
      <p:sp>
        <p:nvSpPr>
          <p:cNvPr id="93" name="Shape 20"/>
          <p:cNvSpPr/>
          <p:nvPr/>
        </p:nvSpPr>
        <p:spPr>
          <a:xfrm>
            <a:off x="4796028" y="234540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21"/>
          <p:cNvSpPr/>
          <p:nvPr/>
        </p:nvSpPr>
        <p:spPr>
          <a:xfrm>
            <a:off x="4796028" y="238197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95" name="Text 22"/>
          <p:cNvSpPr/>
          <p:nvPr/>
        </p:nvSpPr>
        <p:spPr>
          <a:xfrm>
            <a:off x="5308092" y="240026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먼 도로까지 인식하도록 분석 구간 상단으로 확장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h×0.55 → h×0.35</a:t>
            </a:r>
            <a:endParaRPr lang="en-US" sz="800" dirty="0"/>
          </a:p>
        </p:txBody>
      </p:sp>
      <p:sp>
        <p:nvSpPr>
          <p:cNvPr id="96" name="Text 23"/>
          <p:cNvSpPr/>
          <p:nvPr/>
        </p:nvSpPr>
        <p:spPr>
          <a:xfrm>
            <a:off x="5308092" y="265629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카메라 특성에 맞게 엣지·선 검출 파라미터 재튜닝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CLAHE·Adaptive Threshold 재조정</a:t>
            </a:r>
            <a:endParaRPr lang="en-US" sz="800" dirty="0"/>
          </a:p>
        </p:txBody>
      </p:sp>
      <p:sp>
        <p:nvSpPr>
          <p:cNvPr id="97" name="Text 24"/>
          <p:cNvSpPr/>
          <p:nvPr/>
        </p:nvSpPr>
        <p:spPr>
          <a:xfrm>
            <a:off x="5308092" y="291233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YOLO는 자체 정규화가 있어 전처리 없는 원본 입력이 더 정확함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 enhanced_frame → frame</a:t>
            </a:r>
            <a:endParaRPr lang="en-US" sz="800" dirty="0"/>
          </a:p>
        </p:txBody>
      </p:sp>
      <p:sp>
        <p:nvSpPr>
          <p:cNvPr id="98" name="Shape 25"/>
          <p:cNvSpPr/>
          <p:nvPr/>
        </p:nvSpPr>
        <p:spPr>
          <a:xfrm>
            <a:off x="25146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26"/>
          <p:cNvSpPr/>
          <p:nvPr/>
        </p:nvSpPr>
        <p:spPr>
          <a:xfrm>
            <a:off x="251460" y="3360387"/>
            <a:ext cx="4206240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27"/>
          <p:cNvSpPr/>
          <p:nvPr/>
        </p:nvSpPr>
        <p:spPr>
          <a:xfrm>
            <a:off x="34290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장애물 → 횡단보도 오탐</a:t>
            </a:r>
            <a:endParaRPr lang="en-US" sz="950" dirty="0"/>
          </a:p>
        </p:txBody>
      </p:sp>
      <p:sp>
        <p:nvSpPr>
          <p:cNvPr id="101" name="Text 28"/>
          <p:cNvSpPr/>
          <p:nvPr/>
        </p:nvSpPr>
        <p:spPr>
          <a:xfrm>
            <a:off x="36118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02" name="Text 29"/>
          <p:cNvSpPr/>
          <p:nvPr/>
        </p:nvSpPr>
        <p:spPr>
          <a:xfrm>
            <a:off x="87325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도로 위 장애물(곰·공사중 모형 등)의 파편 컨투어가 균등 간격 조건을 통과하며 횡단보도로 오인식됨</a:t>
            </a:r>
            <a:endParaRPr lang="en-US" sz="800" dirty="0"/>
          </a:p>
        </p:txBody>
      </p:sp>
      <p:sp>
        <p:nvSpPr>
          <p:cNvPr id="103" name="Shape 30"/>
          <p:cNvSpPr/>
          <p:nvPr/>
        </p:nvSpPr>
        <p:spPr>
          <a:xfrm>
            <a:off x="36118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31"/>
          <p:cNvSpPr/>
          <p:nvPr/>
        </p:nvSpPr>
        <p:spPr>
          <a:xfrm>
            <a:off x="36118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05" name="Text 32"/>
          <p:cNvSpPr/>
          <p:nvPr/>
        </p:nvSpPr>
        <p:spPr>
          <a:xfrm>
            <a:off x="87325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공사중 표지판을 YOLO로 학습시켜 장애물 위치를 사전 파악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재학습 (mAP50=0.995)</a:t>
            </a:r>
            <a:endParaRPr lang="en-US" sz="800" dirty="0"/>
          </a:p>
        </p:txBody>
      </p:sp>
      <p:sp>
        <p:nvSpPr>
          <p:cNvPr id="106" name="Text 33"/>
          <p:cNvSpPr/>
          <p:nvPr/>
        </p:nvSpPr>
        <p:spPr>
          <a:xfrm>
            <a:off x="87325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YOLO가 장애물로 감지한 영역을 횡단보도 분석 전 미리 지워 오탐 차단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bbox → cw_top 마스킹</a:t>
            </a:r>
            <a:endParaRPr lang="en-US" sz="800" dirty="0"/>
          </a:p>
        </p:txBody>
      </p:sp>
      <p:sp>
        <p:nvSpPr>
          <p:cNvPr id="107" name="Text 34"/>
          <p:cNvSpPr/>
          <p:nvPr/>
        </p:nvSpPr>
        <p:spPr>
          <a:xfrm>
            <a:off x="873252" y="469541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줄무늬 간격 편차 기준을 더 엄격하게 적용해 불규칙 컨투어 걸러냄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gap_std &lt; gap_mean × 0.6</a:t>
            </a:r>
            <a:endParaRPr lang="en-US" sz="800" dirty="0"/>
          </a:p>
        </p:txBody>
      </p:sp>
      <p:sp>
        <p:nvSpPr>
          <p:cNvPr id="108" name="Shape 35"/>
          <p:cNvSpPr/>
          <p:nvPr/>
        </p:nvSpPr>
        <p:spPr>
          <a:xfrm>
            <a:off x="4686300" y="3360387"/>
            <a:ext cx="420624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36"/>
          <p:cNvSpPr/>
          <p:nvPr/>
        </p:nvSpPr>
        <p:spPr>
          <a:xfrm>
            <a:off x="4686300" y="3360387"/>
            <a:ext cx="420624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37"/>
          <p:cNvSpPr/>
          <p:nvPr/>
        </p:nvSpPr>
        <p:spPr>
          <a:xfrm>
            <a:off x="4777740" y="3360387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중심 계산 오차 (원근 문제)</a:t>
            </a:r>
            <a:endParaRPr lang="en-US" sz="950" dirty="0"/>
          </a:p>
        </p:txBody>
      </p:sp>
      <p:sp>
        <p:nvSpPr>
          <p:cNvPr id="111" name="Text 38"/>
          <p:cNvSpPr/>
          <p:nvPr/>
        </p:nvSpPr>
        <p:spPr>
          <a:xfrm>
            <a:off x="4796028" y="37078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</a:t>
            </a:r>
            <a:endParaRPr lang="en-US" sz="800" dirty="0"/>
          </a:p>
        </p:txBody>
      </p:sp>
      <p:sp>
        <p:nvSpPr>
          <p:cNvPr id="112" name="Text 39"/>
          <p:cNvSpPr/>
          <p:nvPr/>
        </p:nvSpPr>
        <p:spPr>
          <a:xfrm>
            <a:off x="5308092" y="3698715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원근 효과로 좌우 차선 검출점의 y좌표가 달라 단순 x 비교 시 실제 중심과 어긋나는 오차 발생</a:t>
            </a:r>
            <a:endParaRPr lang="en-US" sz="800" dirty="0"/>
          </a:p>
        </p:txBody>
      </p:sp>
      <p:sp>
        <p:nvSpPr>
          <p:cNvPr id="113" name="Shape 40"/>
          <p:cNvSpPr/>
          <p:nvPr/>
        </p:nvSpPr>
        <p:spPr>
          <a:xfrm>
            <a:off x="4796028" y="4128483"/>
            <a:ext cx="39776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41"/>
          <p:cNvSpPr/>
          <p:nvPr/>
        </p:nvSpPr>
        <p:spPr>
          <a:xfrm>
            <a:off x="4796028" y="4165059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</a:t>
            </a:r>
            <a:endParaRPr lang="en-US" sz="800" dirty="0"/>
          </a:p>
        </p:txBody>
      </p:sp>
      <p:sp>
        <p:nvSpPr>
          <p:cNvPr id="115" name="Text 42"/>
          <p:cNvSpPr/>
          <p:nvPr/>
        </p:nvSpPr>
        <p:spPr>
          <a:xfrm>
            <a:off x="5308092" y="418334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비슷한 높이에 있는 좌우 점끼리만 매칭해 같은 위치의 차선 너비를 계산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y차이 83px(≈10cm) 이내 쌍만 매칭</a:t>
            </a:r>
            <a:endParaRPr lang="en-US" sz="800" dirty="0"/>
          </a:p>
        </p:txBody>
      </p:sp>
      <p:sp>
        <p:nvSpPr>
          <p:cNvPr id="116" name="Text 43"/>
          <p:cNvSpPr/>
          <p:nvPr/>
        </p:nvSpPr>
        <p:spPr>
          <a:xfrm>
            <a:off x="5308092" y="443937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매칭되는 쌍이 없으면 기존 방식으로 폴백해 안정성 확보  </a:t>
            </a: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폴백: max(left_xs) / min(right_xs)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C님 모듈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 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Perception &amp; AI  </a:t>
            </a:r>
            <a:r>
              <a:rPr lang="en-US" altLang="ko-KR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26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25A567D-A8BB-12CB-6479-48AB5F374C1B}"/>
              </a:ext>
            </a:extLst>
          </p:cNvPr>
          <p:cNvSpPr/>
          <p:nvPr/>
        </p:nvSpPr>
        <p:spPr>
          <a:xfrm>
            <a:off x="324612" y="107628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학습 · 3단계 개선 · 성능 결과</a:t>
            </a:r>
            <a:endParaRPr lang="en-US" sz="12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69B9382E-F29C-7223-DAE7-DF551580A562}"/>
              </a:ext>
            </a:extLst>
          </p:cNvPr>
          <p:cNvSpPr/>
          <p:nvPr/>
        </p:nvSpPr>
        <p:spPr>
          <a:xfrm>
            <a:off x="324612" y="1387183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B4A7AA57-D377-811E-F5E3-DCFE6888DAF8}"/>
              </a:ext>
            </a:extLst>
          </p:cNvPr>
          <p:cNvSpPr/>
          <p:nvPr/>
        </p:nvSpPr>
        <p:spPr>
          <a:xfrm>
            <a:off x="233172" y="1533487"/>
            <a:ext cx="2788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66C9679A-3CAD-9CE2-6890-9C205344829A}"/>
              </a:ext>
            </a:extLst>
          </p:cNvPr>
          <p:cNvSpPr/>
          <p:nvPr/>
        </p:nvSpPr>
        <p:spPr>
          <a:xfrm>
            <a:off x="233172" y="1533487"/>
            <a:ext cx="27889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FD282809-8D63-05F5-91F4-008349780E13}"/>
              </a:ext>
            </a:extLst>
          </p:cNvPr>
          <p:cNvSpPr/>
          <p:nvPr/>
        </p:nvSpPr>
        <p:spPr>
          <a:xfrm>
            <a:off x="324612" y="1533487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 |  기본 학습</a:t>
            </a:r>
            <a:endParaRPr lang="en-US" sz="900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AE457FF1-18D9-C56A-2870-F842E1692264}"/>
              </a:ext>
            </a:extLst>
          </p:cNvPr>
          <p:cNvSpPr/>
          <p:nvPr/>
        </p:nvSpPr>
        <p:spPr>
          <a:xfrm>
            <a:off x="342900" y="1880959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기본 파라미터</a:t>
            </a:r>
            <a:endParaRPr lang="en-US" sz="900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ED1B1C92-7208-CFEB-A685-2E2EDC2E9FE4}"/>
              </a:ext>
            </a:extLst>
          </p:cNvPr>
          <p:cNvSpPr/>
          <p:nvPr/>
        </p:nvSpPr>
        <p:spPr>
          <a:xfrm>
            <a:off x="342900" y="2210143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97 epoch 종료</a:t>
            </a:r>
            <a:endParaRPr lang="en-US" sz="9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D4BB4F99-DF81-8E6E-9D48-E88FE03C95FE}"/>
              </a:ext>
            </a:extLst>
          </p:cNvPr>
          <p:cNvSpPr/>
          <p:nvPr/>
        </p:nvSpPr>
        <p:spPr>
          <a:xfrm>
            <a:off x="342900" y="2539327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97.9%  /  Recall 94.9%</a:t>
            </a:r>
            <a:endParaRPr lang="en-US" sz="900" dirty="0"/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D33DE527-FF86-494A-26EF-AC55965EAD84}"/>
              </a:ext>
            </a:extLst>
          </p:cNvPr>
          <p:cNvSpPr/>
          <p:nvPr/>
        </p:nvSpPr>
        <p:spPr>
          <a:xfrm>
            <a:off x="3022092" y="2100415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509FC4DE-438D-6B2E-AC3F-DCAE5DAC255C}"/>
              </a:ext>
            </a:extLst>
          </p:cNvPr>
          <p:cNvSpPr/>
          <p:nvPr/>
        </p:nvSpPr>
        <p:spPr>
          <a:xfrm>
            <a:off x="3177540" y="1533487"/>
            <a:ext cx="2788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1E9DEB27-5AA4-E55D-D928-52828DE74057}"/>
              </a:ext>
            </a:extLst>
          </p:cNvPr>
          <p:cNvSpPr/>
          <p:nvPr/>
        </p:nvSpPr>
        <p:spPr>
          <a:xfrm>
            <a:off x="3177540" y="1533487"/>
            <a:ext cx="278892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6CEFAD82-6FED-03B0-EE27-BE8FB0F3328A}"/>
              </a:ext>
            </a:extLst>
          </p:cNvPr>
          <p:cNvSpPr/>
          <p:nvPr/>
        </p:nvSpPr>
        <p:spPr>
          <a:xfrm>
            <a:off x="3268980" y="1533487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 |  데이터 증강 + 클래스 분리</a:t>
            </a:r>
            <a:endParaRPr lang="en-US" sz="9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405F2D77-275B-0057-710D-BC508CE8E4A4}"/>
              </a:ext>
            </a:extLst>
          </p:cNvPr>
          <p:cNvSpPr/>
          <p:nvPr/>
        </p:nvSpPr>
        <p:spPr>
          <a:xfrm>
            <a:off x="3287268" y="1880959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조명 변화 증강 (HSV 밝기 조절)</a:t>
            </a:r>
            <a:endParaRPr lang="en-US" sz="9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4136E29D-76DB-A76E-CFEE-BC52A64C2BC5}"/>
              </a:ext>
            </a:extLst>
          </p:cNvPr>
          <p:cNvSpPr/>
          <p:nvPr/>
        </p:nvSpPr>
        <p:spPr>
          <a:xfrm>
            <a:off x="3287268" y="2210143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CutMix &amp; Mixup 적용</a:t>
            </a:r>
            <a:endParaRPr lang="en-US" sz="900" dirty="0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29FC6177-51E6-4005-1EFF-77F18654B262}"/>
              </a:ext>
            </a:extLst>
          </p:cNvPr>
          <p:cNvSpPr/>
          <p:nvPr/>
        </p:nvSpPr>
        <p:spPr>
          <a:xfrm>
            <a:off x="3287268" y="2539327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limit_sign / stop_sign 혼동 개선</a:t>
            </a:r>
            <a:endParaRPr lang="en-US" sz="9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A77ACACB-F0C5-2FB1-6054-7F40CDAD5899}"/>
              </a:ext>
            </a:extLst>
          </p:cNvPr>
          <p:cNvSpPr/>
          <p:nvPr/>
        </p:nvSpPr>
        <p:spPr>
          <a:xfrm>
            <a:off x="5966460" y="2100415"/>
            <a:ext cx="164592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▶</a:t>
            </a:r>
            <a:endParaRPr lang="en-US" sz="1000" dirty="0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808570FD-1EDC-13EB-78D5-12B0674FEFAB}"/>
              </a:ext>
            </a:extLst>
          </p:cNvPr>
          <p:cNvSpPr/>
          <p:nvPr/>
        </p:nvSpPr>
        <p:spPr>
          <a:xfrm>
            <a:off x="6121908" y="1533487"/>
            <a:ext cx="2788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39780C00-0676-7D86-5051-E1E366855335}"/>
              </a:ext>
            </a:extLst>
          </p:cNvPr>
          <p:cNvSpPr/>
          <p:nvPr/>
        </p:nvSpPr>
        <p:spPr>
          <a:xfrm>
            <a:off x="6121908" y="1533487"/>
            <a:ext cx="27889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661C2E09-7BE2-D266-B236-8CF0FB4FD347}"/>
              </a:ext>
            </a:extLst>
          </p:cNvPr>
          <p:cNvSpPr/>
          <p:nvPr/>
        </p:nvSpPr>
        <p:spPr>
          <a:xfrm>
            <a:off x="6213348" y="1533487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3차  |  데이터 보완 + construction 추가</a:t>
            </a:r>
            <a:endParaRPr lang="en-US" sz="90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B0ED66FC-A4DB-784F-8213-A03ED9601DE5}"/>
              </a:ext>
            </a:extLst>
          </p:cNvPr>
          <p:cNvSpPr/>
          <p:nvPr/>
        </p:nvSpPr>
        <p:spPr>
          <a:xfrm>
            <a:off x="6231636" y="1880959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클래스 신규 학습</a:t>
            </a:r>
            <a:endParaRPr lang="en-US" sz="9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1FD3292E-81E3-7F93-6FA1-17A507156A1B}"/>
              </a:ext>
            </a:extLst>
          </p:cNvPr>
          <p:cNvSpPr/>
          <p:nvPr/>
        </p:nvSpPr>
        <p:spPr>
          <a:xfrm>
            <a:off x="6231636" y="2210143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260 epoch 종료</a:t>
            </a:r>
            <a:endParaRPr lang="en-US" sz="9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970EBBE4-D403-B99C-2E61-EEF9E1AFD3F2}"/>
              </a:ext>
            </a:extLst>
          </p:cNvPr>
          <p:cNvSpPr/>
          <p:nvPr/>
        </p:nvSpPr>
        <p:spPr>
          <a:xfrm>
            <a:off x="6231636" y="2539327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 93.8%  /  추론속도 2.2ms</a:t>
            </a:r>
            <a:endParaRPr lang="en-US" sz="9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91D68796-0171-D497-6EF5-E12632AA252D}"/>
              </a:ext>
            </a:extLst>
          </p:cNvPr>
          <p:cNvSpPr/>
          <p:nvPr/>
        </p:nvSpPr>
        <p:spPr>
          <a:xfrm>
            <a:off x="233172" y="3033103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85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7EE3347F-F7AF-44BF-A37C-99E84D2286A0}"/>
              </a:ext>
            </a:extLst>
          </p:cNvPr>
          <p:cNvSpPr/>
          <p:nvPr/>
        </p:nvSpPr>
        <p:spPr>
          <a:xfrm>
            <a:off x="4668012" y="3033103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Loss &amp; mAP Trends</a:t>
            </a:r>
            <a:endParaRPr lang="en-US" sz="850" dirty="0"/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351C1290-B58C-71B9-9642-F279586C6AE9}"/>
              </a:ext>
            </a:extLst>
          </p:cNvPr>
          <p:cNvSpPr/>
          <p:nvPr/>
        </p:nvSpPr>
        <p:spPr>
          <a:xfrm>
            <a:off x="4530852" y="3014815"/>
            <a:ext cx="0" cy="1920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FB5C575B-D816-A2B8-0C98-A648940C4365}"/>
              </a:ext>
            </a:extLst>
          </p:cNvPr>
          <p:cNvSpPr/>
          <p:nvPr/>
        </p:nvSpPr>
        <p:spPr>
          <a:xfrm>
            <a:off x="233172" y="325255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전</a:t>
            </a:r>
            <a:endParaRPr lang="en-US" sz="75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40FDD52B-60E5-6C50-815C-027A8A11C8E4}"/>
              </a:ext>
            </a:extLst>
          </p:cNvPr>
          <p:cNvSpPr/>
          <p:nvPr/>
        </p:nvSpPr>
        <p:spPr>
          <a:xfrm>
            <a:off x="2446020" y="325255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후</a:t>
            </a:r>
            <a:endParaRPr lang="en-US" sz="75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29CC97EA-713C-0B95-4A16-15CFF9A1752B}"/>
              </a:ext>
            </a:extLst>
          </p:cNvPr>
          <p:cNvSpPr/>
          <p:nvPr/>
        </p:nvSpPr>
        <p:spPr>
          <a:xfrm>
            <a:off x="4668012" y="325255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전</a:t>
            </a:r>
            <a:endParaRPr lang="en-US" sz="750" dirty="0"/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96BB34BC-5626-9A8A-DAD4-7F5E0D9F0114}"/>
              </a:ext>
            </a:extLst>
          </p:cNvPr>
          <p:cNvSpPr/>
          <p:nvPr/>
        </p:nvSpPr>
        <p:spPr>
          <a:xfrm>
            <a:off x="6862572" y="3252559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후</a:t>
            </a:r>
            <a:endParaRPr lang="en-US" sz="750" dirty="0"/>
          </a:p>
        </p:txBody>
      </p:sp>
      <p:pic>
        <p:nvPicPr>
          <p:cNvPr id="61" name="Image 0">
            <a:extLst>
              <a:ext uri="{FF2B5EF4-FFF2-40B4-BE49-F238E27FC236}">
                <a16:creationId xmlns:a16="http://schemas.microsoft.com/office/drawing/2014/main" id="{3CF010A0-B34D-CC00-830D-82A65EAC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" y="3426295"/>
            <a:ext cx="2011680" cy="1463040"/>
          </a:xfrm>
          <a:prstGeom prst="rect">
            <a:avLst/>
          </a:prstGeom>
        </p:spPr>
      </p:pic>
      <p:pic>
        <p:nvPicPr>
          <p:cNvPr id="62" name="Image 1">
            <a:extLst>
              <a:ext uri="{FF2B5EF4-FFF2-40B4-BE49-F238E27FC236}">
                <a16:creationId xmlns:a16="http://schemas.microsoft.com/office/drawing/2014/main" id="{D962490D-EC64-ABF9-9B16-39BCADA9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6020" y="3426295"/>
            <a:ext cx="2011680" cy="1463040"/>
          </a:xfrm>
          <a:prstGeom prst="rect">
            <a:avLst/>
          </a:prstGeom>
        </p:spPr>
      </p:pic>
      <p:pic>
        <p:nvPicPr>
          <p:cNvPr id="63" name="Image 2">
            <a:extLst>
              <a:ext uri="{FF2B5EF4-FFF2-40B4-BE49-F238E27FC236}">
                <a16:creationId xmlns:a16="http://schemas.microsoft.com/office/drawing/2014/main" id="{BA646CF1-C694-5C69-8C49-A545D0D77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012" y="3426295"/>
            <a:ext cx="2011680" cy="1463040"/>
          </a:xfrm>
          <a:prstGeom prst="rect">
            <a:avLst/>
          </a:prstGeom>
        </p:spPr>
      </p:pic>
      <p:pic>
        <p:nvPicPr>
          <p:cNvPr id="192" name="Image 3">
            <a:extLst>
              <a:ext uri="{FF2B5EF4-FFF2-40B4-BE49-F238E27FC236}">
                <a16:creationId xmlns:a16="http://schemas.microsoft.com/office/drawing/2014/main" id="{5D6CFFC2-3025-C4F2-48EF-432198C7A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2572" y="3426295"/>
            <a:ext cx="2011680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24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트러블슈팅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문제를 숨기지 않고, 엔지니어링으로 해결한 과정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3361690"/>
            <a:ext cx="841248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336169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132320" y="3498850"/>
            <a:ext cx="15087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150608" y="354457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71232" y="392861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411149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345313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 인식률 저하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4573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[문제]  Gazebo에서 정상 동작하던 신호등 인식이 실제 조명 환경에서 60% 확률로 실패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020058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[원인]  실제 카메라 노출 값과 실내 조명 간섭 문제 확인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29437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[해결]  OpenCV 전처리 보강 + 다양한 조도 조건 추가 학습 → 인식률 95% 달성</a:t>
            </a:r>
            <a:endParaRPr lang="en-US" sz="950" dirty="0"/>
          </a:p>
        </p:txBody>
      </p:sp>
      <p:sp>
        <p:nvSpPr>
          <p:cNvPr id="48" name="Shape 27"/>
          <p:cNvSpPr/>
          <p:nvPr/>
        </p:nvSpPr>
        <p:spPr>
          <a:xfrm>
            <a:off x="365760" y="1513150"/>
            <a:ext cx="8412480" cy="1754352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28"/>
          <p:cNvSpPr/>
          <p:nvPr/>
        </p:nvSpPr>
        <p:spPr>
          <a:xfrm>
            <a:off x="365760" y="1506982"/>
            <a:ext cx="54864" cy="1754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29"/>
          <p:cNvSpPr/>
          <p:nvPr/>
        </p:nvSpPr>
        <p:spPr>
          <a:xfrm>
            <a:off x="7132320" y="1741004"/>
            <a:ext cx="1508760" cy="1378598"/>
          </a:xfrm>
          <a:prstGeom prst="rect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0"/>
          <p:cNvSpPr/>
          <p:nvPr/>
        </p:nvSpPr>
        <p:spPr>
          <a:xfrm>
            <a:off x="7178040" y="1818805"/>
            <a:ext cx="1463040" cy="568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DC2626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0.7s</a:t>
            </a:r>
            <a:endParaRPr lang="ko-KR" sz="1600" dirty="0"/>
          </a:p>
        </p:txBody>
      </p:sp>
      <p:sp>
        <p:nvSpPr>
          <p:cNvPr id="52" name="Text 31"/>
          <p:cNvSpPr/>
          <p:nvPr/>
        </p:nvSpPr>
        <p:spPr>
          <a:xfrm>
            <a:off x="7653528" y="2270280"/>
            <a:ext cx="457200" cy="317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94A3B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→</a:t>
            </a:r>
            <a:endParaRPr lang="ko-KR" sz="1200" dirty="0"/>
          </a:p>
        </p:txBody>
      </p:sp>
      <p:sp>
        <p:nvSpPr>
          <p:cNvPr id="53" name="Text 32"/>
          <p:cNvSpPr/>
          <p:nvPr/>
        </p:nvSpPr>
        <p:spPr>
          <a:xfrm>
            <a:off x="7150608" y="2504903"/>
            <a:ext cx="1463040" cy="568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059669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50ms</a:t>
            </a:r>
            <a:endParaRPr lang="ko-KR" sz="1600" dirty="0"/>
          </a:p>
        </p:txBody>
      </p:sp>
      <p:sp>
        <p:nvSpPr>
          <p:cNvPr id="55" name="Text 34"/>
          <p:cNvSpPr/>
          <p:nvPr/>
        </p:nvSpPr>
        <p:spPr>
          <a:xfrm>
            <a:off x="594360" y="1848081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[문제]  차선 변경 시 time.sleep() 사용 → 그동안 정지·인식 명령 무시</a:t>
            </a:r>
            <a:endParaRPr lang="ko-KR" sz="950" dirty="0"/>
          </a:p>
        </p:txBody>
      </p:sp>
      <p:sp>
        <p:nvSpPr>
          <p:cNvPr id="56" name="Text 35"/>
          <p:cNvSpPr/>
          <p:nvPr/>
        </p:nvSpPr>
        <p:spPr>
          <a:xfrm>
            <a:off x="594360" y="2111370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[추정 원인] 하드웨어 불안정성</a:t>
            </a:r>
            <a:r>
              <a:rPr lang="en-US" altLang="ko-KR" sz="95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(</a:t>
            </a:r>
            <a:r>
              <a:rPr lang="ko-KR" altLang="en-US" sz="95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일관성</a:t>
            </a:r>
            <a:r>
              <a:rPr lang="en-US" altLang="ko-KR" sz="950">
                <a:solidFill>
                  <a:srgbClr val="4A5568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x), </a:t>
            </a:r>
            <a:endParaRPr lang="ko-KR" sz="950" dirty="0"/>
          </a:p>
        </p:txBody>
      </p:sp>
      <p:sp>
        <p:nvSpPr>
          <p:cNvPr id="57" name="Text 36"/>
          <p:cNvSpPr/>
          <p:nvPr/>
        </p:nvSpPr>
        <p:spPr>
          <a:xfrm>
            <a:off x="594360" y="2577856"/>
            <a:ext cx="6309360" cy="37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1A1A2E"/>
                </a:solidFill>
                <a:latin typeface="Calibri" pitchFamily="34" charset="0"/>
                <a:ea typeface="맑은 고딕" pitchFamily="34" charset="-122"/>
                <a:cs typeface="Calibri" pitchFamily="34" charset="-120"/>
              </a:rPr>
              <a:t>[해결]  전 구간 논블로킹 타이머(20Hz) 상태머신 전환 → 50ms 주기 즉시 반응</a:t>
            </a:r>
            <a:endParaRPr lang="ko-KR" sz="950" dirty="0"/>
          </a:p>
        </p:txBody>
      </p:sp>
      <p:sp>
        <p:nvSpPr>
          <p:cNvPr id="58" name="Text 11"/>
          <p:cNvSpPr/>
          <p:nvPr/>
        </p:nvSpPr>
        <p:spPr>
          <a:xfrm>
            <a:off x="594360" y="1601193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</a:t>
            </a:r>
            <a:r>
              <a:rPr lang="ko-KR" altLang="en-US" sz="11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블로킹으로 제어 멈춤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80160" cy="256032"/>
          </a:xfrm>
          <a:prstGeom prst="round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결론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및 향후 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성과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× YOLOv8 통합 자율주행 파이프라인 완성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시뮬레이션 → 실물 로봇 연속 동작 검증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29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10Hz 실시간 인식-제어 루프 안정화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501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차선 인식 / 장애물 감지 / 귀속차선 판별 통합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1417320"/>
            <a:ext cx="27432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계획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21808" y="18470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LiDAR </a:t>
            </a:r>
            <a:r>
              <a:rPr lang="en-US" altLang="ko-KR" sz="1000" dirty="0" err="1"/>
              <a:t>기반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인식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통합</a:t>
            </a:r>
            <a:r>
              <a:rPr lang="en-US" altLang="ko-KR" sz="1000" dirty="0"/>
              <a:t> — </a:t>
            </a:r>
            <a:r>
              <a:rPr lang="en-US" altLang="ko-KR" sz="1000" dirty="0" err="1"/>
              <a:t>카메라만으로는</a:t>
            </a:r>
            <a:r>
              <a:rPr lang="en-US" altLang="ko-KR" sz="1000" dirty="0"/>
              <a:t> </a:t>
            </a:r>
            <a:r>
              <a:rPr lang="en-US" altLang="ko-KR" sz="1000" dirty="0" err="1"/>
              <a:t>한계인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거리·형태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정보를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보완해</a:t>
            </a:r>
            <a:r>
              <a:rPr lang="en-US" altLang="ko-KR" sz="1000" dirty="0"/>
              <a:t> 더 </a:t>
            </a:r>
            <a:r>
              <a:rPr lang="en-US" altLang="ko-KR" sz="1000" dirty="0" err="1"/>
              <a:t>정확한</a:t>
            </a:r>
            <a:r>
              <a:rPr lang="en-US" altLang="ko-KR" sz="1000" dirty="0"/>
              <a:t> </a:t>
            </a:r>
            <a:r>
              <a:rPr lang="en-US" altLang="ko-KR" sz="1000" dirty="0" err="1"/>
              <a:t>장애물</a:t>
            </a:r>
            <a:r>
              <a:rPr lang="en-US" altLang="ko-KR" sz="1000" dirty="0"/>
              <a:t> </a:t>
            </a:r>
            <a:r>
              <a:rPr lang="en-US" altLang="ko-KR" sz="1000" dirty="0" err="1"/>
              <a:t>감지</a:t>
            </a:r>
            <a:endParaRPr lang="en-US" altLang="ko-KR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96312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63440" y="2496312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1808" y="25603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00" dirty="0"/>
              <a:t>SLAM </a:t>
            </a:r>
            <a:r>
              <a:rPr lang="ko-KR" altLang="en-US" sz="1000" dirty="0"/>
              <a:t>연동</a:t>
            </a:r>
            <a:r>
              <a:rPr lang="en-US" altLang="ko-KR" sz="1000" dirty="0"/>
              <a:t>- </a:t>
            </a:r>
            <a:r>
              <a:rPr lang="ko-KR" altLang="en-US" sz="1000" dirty="0"/>
              <a:t>실시간 지도 생성과 위치 추정으로 동적 경로 </a:t>
            </a:r>
            <a:r>
              <a:rPr lang="ko-KR" altLang="en-US" sz="1000" dirty="0" err="1"/>
              <a:t>재계획</a:t>
            </a:r>
            <a:r>
              <a:rPr lang="ko-KR" altLang="en-US" sz="1000" dirty="0"/>
              <a:t> 가능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209544"/>
            <a:ext cx="4114800" cy="585216"/>
          </a:xfrm>
          <a:prstGeom prst="rect">
            <a:avLst/>
          </a:prstGeom>
          <a:solidFill>
            <a:srgbClr val="F8FAF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63440" y="3209544"/>
            <a:ext cx="594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32735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강화학습 기반 주행 </a:t>
            </a:r>
            <a:r>
              <a:rPr lang="en-US" sz="1000" dirty="0" err="1"/>
              <a:t>정책으로</a:t>
            </a:r>
            <a:r>
              <a:rPr lang="en-US" sz="1000" dirty="0"/>
              <a:t> FSM </a:t>
            </a:r>
            <a:r>
              <a:rPr lang="ko-KR" altLang="en-US" sz="1000" dirty="0"/>
              <a:t>고도화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× 딥러닝  |  인지와 제어가 통합된 지능형 자율주행 플랫폼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2108</Words>
  <Application>Microsoft Office PowerPoint</Application>
  <PresentationFormat>화면 슬라이드 쇼(16:9)</PresentationFormat>
  <Paragraphs>387</Paragraphs>
  <Slides>17</Slides>
  <Notes>17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Calibri</vt:lpstr>
      <vt:lpstr>Consolas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27</cp:revision>
  <dcterms:created xsi:type="dcterms:W3CDTF">2026-06-08T06:11:46Z</dcterms:created>
  <dcterms:modified xsi:type="dcterms:W3CDTF">2026-06-08T23:58:55Z</dcterms:modified>
</cp:coreProperties>
</file>